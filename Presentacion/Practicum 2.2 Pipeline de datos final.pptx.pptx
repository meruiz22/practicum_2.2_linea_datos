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al" panose="020B0604020202020204" pitchFamily="34" charset="0"/>
      <p:regular r:id="rId12"/>
    </p:embeddedFont>
    <p:embeddedFont>
      <p:font typeface="Arial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(MS)" panose="020B0604020202020204" charset="0"/>
      <p:regular r:id="rId18"/>
    </p:embeddedFont>
    <p:embeddedFont>
      <p:font typeface="Calibri (MS) Bold" panose="020B0604020202020204" charset="0"/>
      <p:regular r:id="rId19"/>
    </p:embeddedFont>
    <p:embeddedFont>
      <p:font typeface="Cambria Bold" panose="02040803050406030204" pitchFamily="18" charset="0"/>
      <p:regular r:id="rId20"/>
      <p:bold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75" autoAdjust="0"/>
  </p:normalViewPr>
  <p:slideViewPr>
    <p:cSldViewPr>
      <p:cViewPr varScale="1">
        <p:scale>
          <a:sx n="58" d="100"/>
          <a:sy n="58" d="100"/>
        </p:scale>
        <p:origin x="51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6669" y="1203448"/>
            <a:ext cx="12955610" cy="3812147"/>
          </a:xfrm>
        </p:spPr>
        <p:txBody>
          <a:bodyPr bIns="0" anchor="b">
            <a:normAutofit/>
          </a:bodyPr>
          <a:lstStyle>
            <a:lvl1pPr algn="l">
              <a:defRPr sz="99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6670" y="5296807"/>
            <a:ext cx="12955608" cy="1466432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700" b="0" cap="all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4751" y="493961"/>
            <a:ext cx="7460873" cy="4638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56497" y="1198460"/>
            <a:ext cx="1216529" cy="75536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26670" y="5292813"/>
            <a:ext cx="1295560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29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32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1359" y="2634195"/>
            <a:ext cx="12964731" cy="2831925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1359" y="5709293"/>
            <a:ext cx="12945669" cy="1519394"/>
          </a:xfrm>
        </p:spPr>
        <p:txBody>
          <a:bodyPr tIns="91440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81359" y="5707478"/>
            <a:ext cx="129456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91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826" y="1207334"/>
            <a:ext cx="14408453" cy="158895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0997" y="3016318"/>
            <a:ext cx="6967728" cy="51728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0657" y="3026015"/>
            <a:ext cx="6967728" cy="51622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33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787" y="1206245"/>
            <a:ext cx="14411492" cy="15844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787" y="3029324"/>
            <a:ext cx="6967728" cy="120291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787" y="4236404"/>
            <a:ext cx="6967728" cy="39666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18543" y="3034505"/>
            <a:ext cx="6967728" cy="12033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18543" y="4232237"/>
            <a:ext cx="6967728" cy="39560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53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76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007" y="1198460"/>
            <a:ext cx="4909649" cy="33706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5571" y="1198461"/>
            <a:ext cx="9018705" cy="6988239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7007" y="4808237"/>
            <a:ext cx="4912520" cy="3372272"/>
          </a:xfrm>
        </p:spPr>
        <p:txBody>
          <a:bodyPr/>
          <a:lstStyle>
            <a:lvl1pPr marL="0" indent="0" algn="l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2172420" y="4808237"/>
            <a:ext cx="49042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06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216081" y="723256"/>
            <a:ext cx="6111800" cy="7723652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809" y="1694270"/>
            <a:ext cx="8298492" cy="27458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6584" y="1683814"/>
            <a:ext cx="4186757" cy="5799491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5494" y="4718988"/>
            <a:ext cx="8286606" cy="3005613"/>
          </a:xfrm>
        </p:spPr>
        <p:txBody>
          <a:bodyPr>
            <a:normAutofit/>
          </a:bodyPr>
          <a:lstStyle>
            <a:lvl1pPr marL="0" indent="0" algn="l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71074" y="8204785"/>
            <a:ext cx="8291027" cy="48018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1073" y="477961"/>
            <a:ext cx="8311506" cy="48139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171074" y="4715408"/>
            <a:ext cx="829102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73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78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58667" y="1198460"/>
            <a:ext cx="2423613" cy="6989834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67008" y="1198460"/>
            <a:ext cx="11743245" cy="69898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158667" y="1198460"/>
            <a:ext cx="0" cy="6989834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2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029215"/>
            <a:ext cx="18288000" cy="615891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9189720"/>
            <a:ext cx="18288000" cy="11144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7369" y="3023599"/>
            <a:ext cx="14404913" cy="517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2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192620"/>
            <a:ext cx="18288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10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8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7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39" y="0"/>
            <a:ext cx="3947961" cy="1588494"/>
          </a:xfrm>
          <a:custGeom>
            <a:avLst/>
            <a:gdLst/>
            <a:ahLst/>
            <a:cxnLst/>
            <a:rect l="l" t="t" r="r" b="b"/>
            <a:pathLst>
              <a:path w="3947961" h="1588494">
                <a:moveTo>
                  <a:pt x="0" y="0"/>
                </a:moveTo>
                <a:lnTo>
                  <a:pt x="3947961" y="0"/>
                </a:lnTo>
                <a:lnTo>
                  <a:pt x="3947961" y="1588494"/>
                </a:lnTo>
                <a:lnTo>
                  <a:pt x="0" y="1588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63736" y="2563816"/>
            <a:ext cx="15960538" cy="380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6"/>
              </a:lnSpc>
            </a:pPr>
            <a:r>
              <a:rPr lang="en-US" sz="945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Pipeline de Datos del Macroentorno Ecuatoriano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51062" y="6716668"/>
            <a:ext cx="9985877" cy="107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150">
                <a:solidFill>
                  <a:srgbClr val="211D1D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Limpieza, modelo relacional y dashboard analítico para el Tablero Macroentorno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228600" y="8572500"/>
            <a:ext cx="5063900" cy="331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1800">
                <a:solidFill>
                  <a:srgbClr val="211D1D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Martin Emanuel Ruiz Sanchez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38686" y="9028471"/>
            <a:ext cx="83553" cy="24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1800">
                <a:solidFill>
                  <a:srgbClr val="211D1D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48623" y="9028471"/>
            <a:ext cx="1600761" cy="36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1800">
                <a:solidFill>
                  <a:srgbClr val="211D1D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Practicum 2.2 ·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82800" y="6667500"/>
            <a:ext cx="3834764" cy="3834764"/>
          </a:xfrm>
          <a:custGeom>
            <a:avLst/>
            <a:gdLst/>
            <a:ahLst/>
            <a:cxnLst/>
            <a:rect l="l" t="t" r="r" b="b"/>
            <a:pathLst>
              <a:path w="3834764" h="3834764">
                <a:moveTo>
                  <a:pt x="0" y="0"/>
                </a:moveTo>
                <a:lnTo>
                  <a:pt x="3834763" y="0"/>
                </a:lnTo>
                <a:lnTo>
                  <a:pt x="3834763" y="3834764"/>
                </a:lnTo>
                <a:lnTo>
                  <a:pt x="0" y="3834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7791" y="1583588"/>
            <a:ext cx="9029431" cy="83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 b="1">
                <a:solidFill>
                  <a:srgbClr val="201E1D"/>
                </a:solidFill>
                <a:latin typeface="Arial Bold"/>
                <a:ea typeface="Arial Bold"/>
                <a:cs typeface="Arial Bold"/>
                <a:sym typeface="Arial Bold"/>
              </a:rPr>
              <a:t>RESUMEN DEL PROYECTO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90999" y="4128187"/>
            <a:ext cx="1174577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  <a:spcBef>
                <a:spcPct val="0"/>
              </a:spcBef>
            </a:pP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El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transforma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archivos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crudos de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fuentes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públicas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ecuatorianas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en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un dashboard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analítico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de Power BI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capaz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de responder 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preguntas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estratégicas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sobre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la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economía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del Ecuador,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siguiendo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la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</a:t>
            </a:r>
            <a:r>
              <a:rPr lang="en-US" sz="2374" dirty="0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74" dirty="0" err="1">
                <a:solidFill>
                  <a:srgbClr val="201E1D"/>
                </a:solidFill>
                <a:latin typeface="Calibri (MS)"/>
                <a:ea typeface="Calibri (MS)"/>
                <a:cs typeface="Calibri (MS)"/>
                <a:sym typeface="Calibri (MS)"/>
              </a:rPr>
              <a:t>medallón</a:t>
            </a:r>
            <a:endParaRPr lang="en-US" sz="2374" dirty="0">
              <a:solidFill>
                <a:srgbClr val="201E1D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7791" y="2562924"/>
            <a:ext cx="15965537" cy="83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 b="1">
                <a:solidFill>
                  <a:srgbClr val="201E1D"/>
                </a:solidFill>
                <a:latin typeface="Arial Bold"/>
                <a:ea typeface="Arial Bold"/>
                <a:cs typeface="Arial Bold"/>
                <a:sym typeface="Arial Bold"/>
              </a:rPr>
              <a:t>Un pipeline, de dato crudo a decisión estratégica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F8BEF04-206C-437F-8F52-D953431C0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FEF91C-55AC-4ED0-ACC6-988CE6DC3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2815590"/>
            <a:ext cx="3909060" cy="5966460"/>
            <a:chOff x="0" y="0"/>
            <a:chExt cx="5212080" cy="7955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2080" cy="7955280"/>
            </a:xfrm>
            <a:custGeom>
              <a:avLst/>
              <a:gdLst/>
              <a:ahLst/>
              <a:cxnLst/>
              <a:rect l="l" t="t" r="r" b="b"/>
              <a:pathLst>
                <a:path w="5212080" h="7955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772400"/>
                  </a:lnTo>
                  <a:cubicBezTo>
                    <a:pt x="5212080" y="7873365"/>
                    <a:pt x="5130165" y="7955280"/>
                    <a:pt x="502920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52144" y="3199638"/>
            <a:ext cx="850392" cy="850392"/>
            <a:chOff x="0" y="0"/>
            <a:chExt cx="1133856" cy="11338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73248" y="3420742"/>
            <a:ext cx="408184" cy="408184"/>
            <a:chOff x="0" y="0"/>
            <a:chExt cx="544246" cy="544246"/>
          </a:xfrm>
        </p:grpSpPr>
        <p:sp>
          <p:nvSpPr>
            <p:cNvPr id="7" name="Freeform 7" descr="icons/chartline_white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9" b="-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566160" y="3117342"/>
            <a:ext cx="891540" cy="822960"/>
            <a:chOff x="0" y="0"/>
            <a:chExt cx="1188720" cy="10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8720" cy="1097280"/>
            </a:xfrm>
            <a:custGeom>
              <a:avLst/>
              <a:gdLst/>
              <a:ahLst/>
              <a:cxnLst/>
              <a:rect l="l" t="t" r="r" b="b"/>
              <a:pathLst>
                <a:path w="1188720" h="1097280">
                  <a:moveTo>
                    <a:pt x="0" y="0"/>
                  </a:moveTo>
                  <a:lnTo>
                    <a:pt x="1188720" y="0"/>
                  </a:lnTo>
                  <a:lnTo>
                    <a:pt x="118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r="-6843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1887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"/>
                </a:lnSpc>
              </a:pPr>
              <a:r>
                <a:rPr lang="en-US" sz="3900" b="1">
                  <a:solidFill>
                    <a:srgbClr val="087E8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29000" y="3803142"/>
            <a:ext cx="1165860" cy="411480"/>
            <a:chOff x="0" y="0"/>
            <a:chExt cx="155448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80" h="548640">
                  <a:moveTo>
                    <a:pt x="0" y="0"/>
                  </a:moveTo>
                  <a:lnTo>
                    <a:pt x="1554480" y="0"/>
                  </a:lnTo>
                  <a:lnTo>
                    <a:pt x="1554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7" b="-520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54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24712" y="4255770"/>
            <a:ext cx="3305556" cy="1028700"/>
            <a:chOff x="0" y="0"/>
            <a:chExt cx="4407408" cy="137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07408" cy="1371600"/>
            </a:xfrm>
            <a:custGeom>
              <a:avLst/>
              <a:gdLst/>
              <a:ahLst/>
              <a:cxnLst/>
              <a:rect l="l" t="t" r="r" b="b"/>
              <a:pathLst>
                <a:path w="4407408" h="1371600">
                  <a:moveTo>
                    <a:pt x="0" y="0"/>
                  </a:moveTo>
                  <a:lnTo>
                    <a:pt x="4407408" y="0"/>
                  </a:lnTo>
                  <a:lnTo>
                    <a:pt x="440740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611" b="-1261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407408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Banco Central del Ecuador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61204" y="2815590"/>
            <a:ext cx="3909060" cy="5966460"/>
            <a:chOff x="0" y="0"/>
            <a:chExt cx="5212080" cy="7955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12080" cy="7955280"/>
            </a:xfrm>
            <a:custGeom>
              <a:avLst/>
              <a:gdLst/>
              <a:ahLst/>
              <a:cxnLst/>
              <a:rect l="l" t="t" r="r" b="b"/>
              <a:pathLst>
                <a:path w="5212080" h="7955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772400"/>
                  </a:lnTo>
                  <a:cubicBezTo>
                    <a:pt x="5212080" y="7873365"/>
                    <a:pt x="5130165" y="7955280"/>
                    <a:pt x="502920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390388" y="3199638"/>
            <a:ext cx="850392" cy="850392"/>
            <a:chOff x="0" y="0"/>
            <a:chExt cx="1133856" cy="11338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9A826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611492" y="3420742"/>
            <a:ext cx="408184" cy="408184"/>
            <a:chOff x="0" y="0"/>
            <a:chExt cx="544246" cy="544246"/>
          </a:xfrm>
        </p:grpSpPr>
        <p:sp>
          <p:nvSpPr>
            <p:cNvPr id="22" name="Freeform 22" descr="icons/users_white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9" b="-9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804404" y="3117342"/>
            <a:ext cx="891540" cy="822960"/>
            <a:chOff x="0" y="0"/>
            <a:chExt cx="1188720" cy="1097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8720" cy="1097280"/>
            </a:xfrm>
            <a:custGeom>
              <a:avLst/>
              <a:gdLst/>
              <a:ahLst/>
              <a:cxnLst/>
              <a:rect l="l" t="t" r="r" b="b"/>
              <a:pathLst>
                <a:path w="1188720" h="1097280">
                  <a:moveTo>
                    <a:pt x="0" y="0"/>
                  </a:moveTo>
                  <a:lnTo>
                    <a:pt x="1188720" y="0"/>
                  </a:lnTo>
                  <a:lnTo>
                    <a:pt x="118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r="-6843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1887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"/>
                </a:lnSpc>
              </a:pPr>
              <a:r>
                <a:rPr lang="en-US" sz="3900" b="1">
                  <a:solidFill>
                    <a:srgbClr val="F9A82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67244" y="3803142"/>
            <a:ext cx="1165860" cy="411480"/>
            <a:chOff x="0" y="0"/>
            <a:chExt cx="1554480" cy="548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80" h="548640">
                  <a:moveTo>
                    <a:pt x="0" y="0"/>
                  </a:moveTo>
                  <a:lnTo>
                    <a:pt x="1554480" y="0"/>
                  </a:lnTo>
                  <a:lnTo>
                    <a:pt x="1554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7" b="-520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554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62956" y="4255770"/>
            <a:ext cx="3305556" cy="1028700"/>
            <a:chOff x="0" y="0"/>
            <a:chExt cx="4407408" cy="137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07408" cy="1371600"/>
            </a:xfrm>
            <a:custGeom>
              <a:avLst/>
              <a:gdLst/>
              <a:ahLst/>
              <a:cxnLst/>
              <a:rect l="l" t="t" r="r" b="b"/>
              <a:pathLst>
                <a:path w="4407408" h="1371600">
                  <a:moveTo>
                    <a:pt x="0" y="0"/>
                  </a:moveTo>
                  <a:lnTo>
                    <a:pt x="4407408" y="0"/>
                  </a:lnTo>
                  <a:lnTo>
                    <a:pt x="440740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611" b="-1261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407408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INEC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99448" y="2815590"/>
            <a:ext cx="3909060" cy="5966460"/>
            <a:chOff x="0" y="0"/>
            <a:chExt cx="5212080" cy="7955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12080" cy="7955280"/>
            </a:xfrm>
            <a:custGeom>
              <a:avLst/>
              <a:gdLst/>
              <a:ahLst/>
              <a:cxnLst/>
              <a:rect l="l" t="t" r="r" b="b"/>
              <a:pathLst>
                <a:path w="5212080" h="7955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772400"/>
                  </a:lnTo>
                  <a:cubicBezTo>
                    <a:pt x="5212080" y="7873365"/>
                    <a:pt x="5130165" y="7955280"/>
                    <a:pt x="502920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628632" y="3199638"/>
            <a:ext cx="850392" cy="850392"/>
            <a:chOff x="0" y="0"/>
            <a:chExt cx="1133856" cy="11338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8C5A1E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849736" y="3420742"/>
            <a:ext cx="408184" cy="408184"/>
            <a:chOff x="0" y="0"/>
            <a:chExt cx="544246" cy="544246"/>
          </a:xfrm>
        </p:grpSpPr>
        <p:sp>
          <p:nvSpPr>
            <p:cNvPr id="37" name="Freeform 37" descr="icons/briefcase_white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9" b="-9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2042648" y="3117342"/>
            <a:ext cx="891540" cy="822960"/>
            <a:chOff x="0" y="0"/>
            <a:chExt cx="118872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88720" cy="1097280"/>
            </a:xfrm>
            <a:custGeom>
              <a:avLst/>
              <a:gdLst/>
              <a:ahLst/>
              <a:cxnLst/>
              <a:rect l="l" t="t" r="r" b="b"/>
              <a:pathLst>
                <a:path w="1188720" h="1097280">
                  <a:moveTo>
                    <a:pt x="0" y="0"/>
                  </a:moveTo>
                  <a:lnTo>
                    <a:pt x="1188720" y="0"/>
                  </a:lnTo>
                  <a:lnTo>
                    <a:pt x="118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r="-6843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1887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"/>
                </a:lnSpc>
              </a:pPr>
              <a:r>
                <a:rPr lang="en-US" sz="3900" b="1">
                  <a:solidFill>
                    <a:srgbClr val="8C5A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905488" y="3803142"/>
            <a:ext cx="1165860" cy="411480"/>
            <a:chOff x="0" y="0"/>
            <a:chExt cx="155448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80" h="548640">
                  <a:moveTo>
                    <a:pt x="0" y="0"/>
                  </a:moveTo>
                  <a:lnTo>
                    <a:pt x="1554480" y="0"/>
                  </a:lnTo>
                  <a:lnTo>
                    <a:pt x="1554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7" b="-520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1554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01200" y="4255770"/>
            <a:ext cx="3305556" cy="1028700"/>
            <a:chOff x="0" y="0"/>
            <a:chExt cx="4407408" cy="1371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07408" cy="1371600"/>
            </a:xfrm>
            <a:custGeom>
              <a:avLst/>
              <a:gdLst/>
              <a:ahLst/>
              <a:cxnLst/>
              <a:rect l="l" t="t" r="r" b="b"/>
              <a:pathLst>
                <a:path w="4407408" h="1371600">
                  <a:moveTo>
                    <a:pt x="0" y="0"/>
                  </a:moveTo>
                  <a:lnTo>
                    <a:pt x="4407408" y="0"/>
                  </a:lnTo>
                  <a:lnTo>
                    <a:pt x="440740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611" b="-1261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407408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Superintendencia de Compañías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537692" y="2815590"/>
            <a:ext cx="3909060" cy="5966460"/>
            <a:chOff x="0" y="0"/>
            <a:chExt cx="5212080" cy="79552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212080" cy="7955280"/>
            </a:xfrm>
            <a:custGeom>
              <a:avLst/>
              <a:gdLst/>
              <a:ahLst/>
              <a:cxnLst/>
              <a:rect l="l" t="t" r="r" b="b"/>
              <a:pathLst>
                <a:path w="5212080" h="7955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772400"/>
                  </a:lnTo>
                  <a:cubicBezTo>
                    <a:pt x="5212080" y="7873365"/>
                    <a:pt x="5130165" y="7955280"/>
                    <a:pt x="502920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3866876" y="3199638"/>
            <a:ext cx="850392" cy="850392"/>
            <a:chOff x="0" y="0"/>
            <a:chExt cx="1133856" cy="11338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4087980" y="3420742"/>
            <a:ext cx="408184" cy="408184"/>
            <a:chOff x="0" y="0"/>
            <a:chExt cx="544246" cy="544246"/>
          </a:xfrm>
        </p:grpSpPr>
        <p:sp>
          <p:nvSpPr>
            <p:cNvPr id="52" name="Freeform 52" descr="icons/grad_white.png"/>
            <p:cNvSpPr/>
            <p:nvPr/>
          </p:nvSpPr>
          <p:spPr>
            <a:xfrm>
              <a:off x="0" y="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9" b="-9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6280892" y="3117342"/>
            <a:ext cx="891540" cy="822960"/>
            <a:chOff x="0" y="0"/>
            <a:chExt cx="1188720" cy="10972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88720" cy="1097280"/>
            </a:xfrm>
            <a:custGeom>
              <a:avLst/>
              <a:gdLst/>
              <a:ahLst/>
              <a:cxnLst/>
              <a:rect l="l" t="t" r="r" b="b"/>
              <a:pathLst>
                <a:path w="1188720" h="1097280">
                  <a:moveTo>
                    <a:pt x="0" y="0"/>
                  </a:moveTo>
                  <a:lnTo>
                    <a:pt x="1188720" y="0"/>
                  </a:lnTo>
                  <a:lnTo>
                    <a:pt x="118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r="-6843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11887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"/>
                </a:lnSpc>
              </a:pPr>
              <a:r>
                <a:rPr lang="en-US" sz="390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143732" y="3803142"/>
            <a:ext cx="1165860" cy="411480"/>
            <a:chOff x="0" y="0"/>
            <a:chExt cx="155448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80" h="548640">
                  <a:moveTo>
                    <a:pt x="0" y="0"/>
                  </a:moveTo>
                  <a:lnTo>
                    <a:pt x="1554480" y="0"/>
                  </a:lnTo>
                  <a:lnTo>
                    <a:pt x="1554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07" b="-520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1554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839444" y="4255770"/>
            <a:ext cx="3305556" cy="1028700"/>
            <a:chOff x="0" y="0"/>
            <a:chExt cx="4407408" cy="1371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407408" cy="1371600"/>
            </a:xfrm>
            <a:custGeom>
              <a:avLst/>
              <a:gdLst/>
              <a:ahLst/>
              <a:cxnLst/>
              <a:rect l="l" t="t" r="r" b="b"/>
              <a:pathLst>
                <a:path w="4407408" h="1371600">
                  <a:moveTo>
                    <a:pt x="0" y="0"/>
                  </a:moveTo>
                  <a:lnTo>
                    <a:pt x="4407408" y="0"/>
                  </a:lnTo>
                  <a:lnTo>
                    <a:pt x="440740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611" b="-1261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4407408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MINEDUC</a:t>
              </a:r>
            </a:p>
          </p:txBody>
        </p:sp>
      </p:grpSp>
      <p:sp>
        <p:nvSpPr>
          <p:cNvPr id="62" name="Freeform 62"/>
          <p:cNvSpPr/>
          <p:nvPr/>
        </p:nvSpPr>
        <p:spPr>
          <a:xfrm>
            <a:off x="1652033" y="5494020"/>
            <a:ext cx="1914127" cy="2469841"/>
          </a:xfrm>
          <a:custGeom>
            <a:avLst/>
            <a:gdLst/>
            <a:ahLst/>
            <a:cxnLst/>
            <a:rect l="l" t="t" r="r" b="b"/>
            <a:pathLst>
              <a:path w="1914127" h="2469841">
                <a:moveTo>
                  <a:pt x="0" y="0"/>
                </a:moveTo>
                <a:lnTo>
                  <a:pt x="1914127" y="0"/>
                </a:lnTo>
                <a:lnTo>
                  <a:pt x="1914127" y="2469841"/>
                </a:lnTo>
                <a:lnTo>
                  <a:pt x="0" y="2469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5890277" y="5494020"/>
            <a:ext cx="1914127" cy="2469841"/>
          </a:xfrm>
          <a:custGeom>
            <a:avLst/>
            <a:gdLst/>
            <a:ahLst/>
            <a:cxnLst/>
            <a:rect l="l" t="t" r="r" b="b"/>
            <a:pathLst>
              <a:path w="1914127" h="2469841">
                <a:moveTo>
                  <a:pt x="0" y="0"/>
                </a:moveTo>
                <a:lnTo>
                  <a:pt x="1914127" y="0"/>
                </a:lnTo>
                <a:lnTo>
                  <a:pt x="1914127" y="2469841"/>
                </a:lnTo>
                <a:lnTo>
                  <a:pt x="0" y="2469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10069451" y="5390726"/>
            <a:ext cx="1914127" cy="2469841"/>
          </a:xfrm>
          <a:custGeom>
            <a:avLst/>
            <a:gdLst/>
            <a:ahLst/>
            <a:cxnLst/>
            <a:rect l="l" t="t" r="r" b="b"/>
            <a:pathLst>
              <a:path w="1914127" h="2469841">
                <a:moveTo>
                  <a:pt x="0" y="0"/>
                </a:moveTo>
                <a:lnTo>
                  <a:pt x="1914127" y="0"/>
                </a:lnTo>
                <a:lnTo>
                  <a:pt x="1914127" y="2469841"/>
                </a:lnTo>
                <a:lnTo>
                  <a:pt x="0" y="2469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4303362" y="5374187"/>
            <a:ext cx="1914127" cy="2469841"/>
          </a:xfrm>
          <a:custGeom>
            <a:avLst/>
            <a:gdLst/>
            <a:ahLst/>
            <a:cxnLst/>
            <a:rect l="l" t="t" r="r" b="b"/>
            <a:pathLst>
              <a:path w="1914127" h="2469841">
                <a:moveTo>
                  <a:pt x="0" y="0"/>
                </a:moveTo>
                <a:lnTo>
                  <a:pt x="1914126" y="0"/>
                </a:lnTo>
                <a:lnTo>
                  <a:pt x="1914126" y="2469841"/>
                </a:lnTo>
                <a:lnTo>
                  <a:pt x="0" y="2469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1377791" y="1583588"/>
            <a:ext cx="2819721" cy="83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 b="1">
                <a:solidFill>
                  <a:srgbClr val="201E1D"/>
                </a:solidFill>
                <a:latin typeface="Arial Bold"/>
                <a:ea typeface="Arial Bold"/>
                <a:cs typeface="Arial Bold"/>
                <a:sym typeface="Arial Bold"/>
              </a:rPr>
              <a:t>Fuentes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7791" y="1583588"/>
            <a:ext cx="9679982" cy="83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Arquitectura Bronze-Silver-Gold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22960" y="3928767"/>
            <a:ext cx="2811780" cy="3497580"/>
            <a:chOff x="0" y="0"/>
            <a:chExt cx="3749040" cy="4663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9040" cy="4663440"/>
            </a:xfrm>
            <a:custGeom>
              <a:avLst/>
              <a:gdLst/>
              <a:ahLst/>
              <a:cxnLst/>
              <a:rect l="l" t="t" r="r" b="b"/>
              <a:pathLst>
                <a:path w="3749040" h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4480560"/>
                  </a:lnTo>
                  <a:cubicBezTo>
                    <a:pt x="3749040" y="4581525"/>
                    <a:pt x="3667125" y="4663440"/>
                    <a:pt x="3566160" y="4663440"/>
                  </a:cubicBezTo>
                  <a:lnTo>
                    <a:pt x="182880" y="4663440"/>
                  </a:lnTo>
                  <a:cubicBezTo>
                    <a:pt x="81915" y="4663440"/>
                    <a:pt x="0" y="4581525"/>
                    <a:pt x="0" y="448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735074" y="4312815"/>
            <a:ext cx="987552" cy="987552"/>
            <a:chOff x="0" y="0"/>
            <a:chExt cx="1316736" cy="13167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5B7A8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991839" y="4569581"/>
            <a:ext cx="474021" cy="474021"/>
            <a:chOff x="0" y="0"/>
            <a:chExt cx="632028" cy="632028"/>
          </a:xfrm>
        </p:grpSpPr>
        <p:sp>
          <p:nvSpPr>
            <p:cNvPr id="8" name="Freeform 8" descr="icons/database_white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8" b="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91540" y="5464959"/>
            <a:ext cx="2674620" cy="548640"/>
            <a:chOff x="0" y="0"/>
            <a:chExt cx="3566160" cy="731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989" b="-4498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566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FUENTES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PÚBLICAS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688" y="6054747"/>
            <a:ext cx="2592324" cy="1234440"/>
            <a:chOff x="0" y="0"/>
            <a:chExt cx="3456432" cy="1645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56432" cy="1645920"/>
            </a:xfrm>
            <a:custGeom>
              <a:avLst/>
              <a:gdLst/>
              <a:ahLst/>
              <a:cxnLst/>
              <a:rect l="l" t="t" r="r" b="b"/>
              <a:pathLst>
                <a:path w="3456432" h="1645920">
                  <a:moveTo>
                    <a:pt x="0" y="0"/>
                  </a:moveTo>
                  <a:lnTo>
                    <a:pt x="3456432" y="0"/>
                  </a:lnTo>
                  <a:lnTo>
                    <a:pt x="345643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456432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BCE · INEC ·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Supercias · MINEDUC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17036" y="5485533"/>
            <a:ext cx="469773" cy="384048"/>
            <a:chOff x="0" y="0"/>
            <a:chExt cx="626364" cy="512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6364" cy="512064"/>
            </a:xfrm>
            <a:custGeom>
              <a:avLst/>
              <a:gdLst/>
              <a:ahLst/>
              <a:cxnLst/>
              <a:rect l="l" t="t" r="r" b="b"/>
              <a:pathLst>
                <a:path w="626364" h="512064">
                  <a:moveTo>
                    <a:pt x="0" y="128016"/>
                  </a:moveTo>
                  <a:lnTo>
                    <a:pt x="370332" y="128016"/>
                  </a:lnTo>
                  <a:lnTo>
                    <a:pt x="370332" y="0"/>
                  </a:lnTo>
                  <a:lnTo>
                    <a:pt x="626364" y="256032"/>
                  </a:lnTo>
                  <a:lnTo>
                    <a:pt x="370332" y="512064"/>
                  </a:lnTo>
                  <a:lnTo>
                    <a:pt x="370332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269105" y="3928767"/>
            <a:ext cx="2811780" cy="3497580"/>
            <a:chOff x="0" y="0"/>
            <a:chExt cx="3749040" cy="4663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9040" cy="4663440"/>
            </a:xfrm>
            <a:custGeom>
              <a:avLst/>
              <a:gdLst/>
              <a:ahLst/>
              <a:cxnLst/>
              <a:rect l="l" t="t" r="r" b="b"/>
              <a:pathLst>
                <a:path w="3749040" h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4480560"/>
                  </a:lnTo>
                  <a:cubicBezTo>
                    <a:pt x="3749040" y="4581525"/>
                    <a:pt x="3667125" y="4663440"/>
                    <a:pt x="3566160" y="4663440"/>
                  </a:cubicBezTo>
                  <a:lnTo>
                    <a:pt x="182880" y="4663440"/>
                  </a:lnTo>
                  <a:cubicBezTo>
                    <a:pt x="81915" y="4663440"/>
                    <a:pt x="0" y="4581525"/>
                    <a:pt x="0" y="448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181219" y="4312815"/>
            <a:ext cx="987552" cy="987552"/>
            <a:chOff x="0" y="0"/>
            <a:chExt cx="1316736" cy="13167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8C5A1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437984" y="4569581"/>
            <a:ext cx="474021" cy="474021"/>
            <a:chOff x="0" y="0"/>
            <a:chExt cx="632028" cy="632028"/>
          </a:xfrm>
        </p:grpSpPr>
        <p:sp>
          <p:nvSpPr>
            <p:cNvPr id="22" name="Freeform 22" descr="icons/boxes_white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8" b="8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4337685" y="5464959"/>
            <a:ext cx="2674620" cy="548640"/>
            <a:chOff x="0" y="0"/>
            <a:chExt cx="356616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989" b="-4498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566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BRONZE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78833" y="6054747"/>
            <a:ext cx="2592324" cy="1234440"/>
            <a:chOff x="0" y="0"/>
            <a:chExt cx="3456432" cy="1645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56432" cy="1645920"/>
            </a:xfrm>
            <a:custGeom>
              <a:avLst/>
              <a:gdLst/>
              <a:ahLst/>
              <a:cxnLst/>
              <a:rect l="l" t="t" r="r" b="b"/>
              <a:pathLst>
                <a:path w="3456432" h="1645920">
                  <a:moveTo>
                    <a:pt x="0" y="0"/>
                  </a:moveTo>
                  <a:lnTo>
                    <a:pt x="3456432" y="0"/>
                  </a:lnTo>
                  <a:lnTo>
                    <a:pt x="345643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456432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datos_crudos/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archivos originales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63181" y="5485533"/>
            <a:ext cx="469773" cy="384048"/>
            <a:chOff x="0" y="0"/>
            <a:chExt cx="626364" cy="5120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6364" cy="512064"/>
            </a:xfrm>
            <a:custGeom>
              <a:avLst/>
              <a:gdLst/>
              <a:ahLst/>
              <a:cxnLst/>
              <a:rect l="l" t="t" r="r" b="b"/>
              <a:pathLst>
                <a:path w="626364" h="512064">
                  <a:moveTo>
                    <a:pt x="0" y="128016"/>
                  </a:moveTo>
                  <a:lnTo>
                    <a:pt x="370332" y="128016"/>
                  </a:lnTo>
                  <a:lnTo>
                    <a:pt x="370332" y="0"/>
                  </a:lnTo>
                  <a:lnTo>
                    <a:pt x="626364" y="256032"/>
                  </a:lnTo>
                  <a:lnTo>
                    <a:pt x="370332" y="512064"/>
                  </a:lnTo>
                  <a:lnTo>
                    <a:pt x="370332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715250" y="3928767"/>
            <a:ext cx="2811780" cy="3497580"/>
            <a:chOff x="0" y="0"/>
            <a:chExt cx="3749040" cy="466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749040" cy="4663440"/>
            </a:xfrm>
            <a:custGeom>
              <a:avLst/>
              <a:gdLst/>
              <a:ahLst/>
              <a:cxnLst/>
              <a:rect l="l" t="t" r="r" b="b"/>
              <a:pathLst>
                <a:path w="3749040" h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4480560"/>
                  </a:lnTo>
                  <a:cubicBezTo>
                    <a:pt x="3749040" y="4581525"/>
                    <a:pt x="3667125" y="4663440"/>
                    <a:pt x="3566160" y="4663440"/>
                  </a:cubicBezTo>
                  <a:lnTo>
                    <a:pt x="182880" y="4663440"/>
                  </a:lnTo>
                  <a:cubicBezTo>
                    <a:pt x="81915" y="4663440"/>
                    <a:pt x="0" y="4581525"/>
                    <a:pt x="0" y="448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627364" y="4312815"/>
            <a:ext cx="987552" cy="987552"/>
            <a:chOff x="0" y="0"/>
            <a:chExt cx="1316736" cy="13167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884129" y="4569581"/>
            <a:ext cx="474021" cy="474021"/>
            <a:chOff x="0" y="0"/>
            <a:chExt cx="632028" cy="632028"/>
          </a:xfrm>
        </p:grpSpPr>
        <p:sp>
          <p:nvSpPr>
            <p:cNvPr id="36" name="Freeform 36" descr="icons/flask_white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8" b="8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7783830" y="5464959"/>
            <a:ext cx="2674620" cy="548640"/>
            <a:chOff x="0" y="0"/>
            <a:chExt cx="356616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989" b="-4498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3566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SILVER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24978" y="6054747"/>
            <a:ext cx="2592324" cy="1234440"/>
            <a:chOff x="0" y="0"/>
            <a:chExt cx="3456432" cy="16459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456432" cy="1645920"/>
            </a:xfrm>
            <a:custGeom>
              <a:avLst/>
              <a:gdLst/>
              <a:ahLst/>
              <a:cxnLst/>
              <a:rect l="l" t="t" r="r" b="b"/>
              <a:pathLst>
                <a:path w="3456432" h="1645920">
                  <a:moveTo>
                    <a:pt x="0" y="0"/>
                  </a:moveTo>
                  <a:lnTo>
                    <a:pt x="3456432" y="0"/>
                  </a:lnTo>
                  <a:lnTo>
                    <a:pt x="345643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456432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</a:t>
              </a:r>
            </a:p>
            <a:p>
              <a:pPr algn="ctr">
                <a:lnSpc>
                  <a:spcPts val="1889"/>
                </a:lnSpc>
              </a:pPr>
              <a:endParaRPr lang="en-US" sz="1575">
                <a:solidFill>
                  <a:srgbClr val="5B7A8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609326" y="5485533"/>
            <a:ext cx="469773" cy="384048"/>
            <a:chOff x="0" y="0"/>
            <a:chExt cx="626364" cy="5120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6364" cy="512064"/>
            </a:xfrm>
            <a:custGeom>
              <a:avLst/>
              <a:gdLst/>
              <a:ahLst/>
              <a:cxnLst/>
              <a:rect l="l" t="t" r="r" b="b"/>
              <a:pathLst>
                <a:path w="626364" h="512064">
                  <a:moveTo>
                    <a:pt x="0" y="128016"/>
                  </a:moveTo>
                  <a:lnTo>
                    <a:pt x="370332" y="128016"/>
                  </a:lnTo>
                  <a:lnTo>
                    <a:pt x="370332" y="0"/>
                  </a:lnTo>
                  <a:lnTo>
                    <a:pt x="626364" y="256032"/>
                  </a:lnTo>
                  <a:lnTo>
                    <a:pt x="370332" y="512064"/>
                  </a:lnTo>
                  <a:lnTo>
                    <a:pt x="370332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1161395" y="3928767"/>
            <a:ext cx="2811780" cy="3497580"/>
            <a:chOff x="0" y="0"/>
            <a:chExt cx="3749040" cy="46634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749040" cy="4663440"/>
            </a:xfrm>
            <a:custGeom>
              <a:avLst/>
              <a:gdLst/>
              <a:ahLst/>
              <a:cxnLst/>
              <a:rect l="l" t="t" r="r" b="b"/>
              <a:pathLst>
                <a:path w="3749040" h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4480560"/>
                  </a:lnTo>
                  <a:cubicBezTo>
                    <a:pt x="3749040" y="4581525"/>
                    <a:pt x="3667125" y="4663440"/>
                    <a:pt x="3566160" y="4663440"/>
                  </a:cubicBezTo>
                  <a:lnTo>
                    <a:pt x="182880" y="4663440"/>
                  </a:lnTo>
                  <a:cubicBezTo>
                    <a:pt x="81915" y="4663440"/>
                    <a:pt x="0" y="4581525"/>
                    <a:pt x="0" y="448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073509" y="4312815"/>
            <a:ext cx="987552" cy="987552"/>
            <a:chOff x="0" y="0"/>
            <a:chExt cx="1316736" cy="131673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9A826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2330274" y="4569581"/>
            <a:ext cx="474021" cy="474021"/>
            <a:chOff x="0" y="0"/>
            <a:chExt cx="632028" cy="632028"/>
          </a:xfrm>
        </p:grpSpPr>
        <p:sp>
          <p:nvSpPr>
            <p:cNvPr id="50" name="Freeform 50" descr="icons/chartline_white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8" b="8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11229975" y="5464959"/>
            <a:ext cx="2674620" cy="548640"/>
            <a:chOff x="0" y="0"/>
            <a:chExt cx="356616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989" b="-4498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3566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GOLD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271123" y="6054747"/>
            <a:ext cx="2592324" cy="1234440"/>
            <a:chOff x="0" y="0"/>
            <a:chExt cx="3456432" cy="16459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56432" cy="1645920"/>
            </a:xfrm>
            <a:custGeom>
              <a:avLst/>
              <a:gdLst/>
              <a:ahLst/>
              <a:cxnLst/>
              <a:rect l="l" t="t" r="r" b="b"/>
              <a:pathLst>
                <a:path w="3456432" h="1645920">
                  <a:moveTo>
                    <a:pt x="0" y="0"/>
                  </a:moveTo>
                  <a:lnTo>
                    <a:pt x="3456432" y="0"/>
                  </a:lnTo>
                  <a:lnTo>
                    <a:pt x="345643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3456432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Vistas SQL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analíticas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055471" y="5485533"/>
            <a:ext cx="469773" cy="384048"/>
            <a:chOff x="0" y="0"/>
            <a:chExt cx="626364" cy="5120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26364" cy="512064"/>
            </a:xfrm>
            <a:custGeom>
              <a:avLst/>
              <a:gdLst/>
              <a:ahLst/>
              <a:cxnLst/>
              <a:rect l="l" t="t" r="r" b="b"/>
              <a:pathLst>
                <a:path w="626364" h="512064">
                  <a:moveTo>
                    <a:pt x="0" y="128016"/>
                  </a:moveTo>
                  <a:lnTo>
                    <a:pt x="370332" y="128016"/>
                  </a:lnTo>
                  <a:lnTo>
                    <a:pt x="370332" y="0"/>
                  </a:lnTo>
                  <a:lnTo>
                    <a:pt x="626364" y="256032"/>
                  </a:lnTo>
                  <a:lnTo>
                    <a:pt x="370332" y="512064"/>
                  </a:lnTo>
                  <a:lnTo>
                    <a:pt x="370332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4607540" y="3928767"/>
            <a:ext cx="2811780" cy="3497580"/>
            <a:chOff x="0" y="0"/>
            <a:chExt cx="3749040" cy="46634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749040" cy="4663440"/>
            </a:xfrm>
            <a:custGeom>
              <a:avLst/>
              <a:gdLst/>
              <a:ahLst/>
              <a:cxnLst/>
              <a:rect l="l" t="t" r="r" b="b"/>
              <a:pathLst>
                <a:path w="3749040" h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4480560"/>
                  </a:lnTo>
                  <a:cubicBezTo>
                    <a:pt x="3749040" y="4581525"/>
                    <a:pt x="3667125" y="4663440"/>
                    <a:pt x="3566160" y="4663440"/>
                  </a:cubicBezTo>
                  <a:lnTo>
                    <a:pt x="182880" y="4663440"/>
                  </a:lnTo>
                  <a:cubicBezTo>
                    <a:pt x="81915" y="4663440"/>
                    <a:pt x="0" y="4581525"/>
                    <a:pt x="0" y="448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5519654" y="4312815"/>
            <a:ext cx="987552" cy="987552"/>
            <a:chOff x="0" y="0"/>
            <a:chExt cx="1316736" cy="131673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3954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5776419" y="4569581"/>
            <a:ext cx="474021" cy="474021"/>
            <a:chOff x="0" y="0"/>
            <a:chExt cx="632028" cy="632028"/>
          </a:xfrm>
        </p:grpSpPr>
        <p:sp>
          <p:nvSpPr>
            <p:cNvPr id="64" name="Freeform 64" descr="icons/chartbar_white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4676120" y="5464959"/>
            <a:ext cx="2674620" cy="548640"/>
            <a:chOff x="0" y="0"/>
            <a:chExt cx="356616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989" b="-44989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3566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95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717268" y="6054747"/>
            <a:ext cx="2592324" cy="1234440"/>
            <a:chOff x="0" y="0"/>
            <a:chExt cx="3456432" cy="16459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456432" cy="1645920"/>
            </a:xfrm>
            <a:custGeom>
              <a:avLst/>
              <a:gdLst/>
              <a:ahLst/>
              <a:cxnLst/>
              <a:rect l="l" t="t" r="r" b="b"/>
              <a:pathLst>
                <a:path w="3456432" h="1645920">
                  <a:moveTo>
                    <a:pt x="0" y="0"/>
                  </a:moveTo>
                  <a:lnTo>
                    <a:pt x="3456432" y="0"/>
                  </a:lnTo>
                  <a:lnTo>
                    <a:pt x="345643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96" r="-1109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3456432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BI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7A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páginas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22960" y="7645422"/>
            <a:ext cx="16596360" cy="2125980"/>
            <a:chOff x="0" y="0"/>
            <a:chExt cx="22128480" cy="28346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2128479" cy="2834640"/>
            </a:xfrm>
            <a:custGeom>
              <a:avLst/>
              <a:gdLst/>
              <a:ahLst/>
              <a:cxnLst/>
              <a:rect l="l" t="t" r="r" b="b"/>
              <a:pathLst>
                <a:path w="22128479" h="28346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670048"/>
                  </a:lnTo>
                  <a:cubicBezTo>
                    <a:pt x="22128479" y="2760980"/>
                    <a:pt x="22054820" y="2834640"/>
                    <a:pt x="21963887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5EAD8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234440" y="8029470"/>
            <a:ext cx="822960" cy="822960"/>
            <a:chOff x="0" y="0"/>
            <a:chExt cx="1097280" cy="10972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87E8B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448410" y="8243440"/>
            <a:ext cx="395021" cy="395021"/>
            <a:chOff x="0" y="0"/>
            <a:chExt cx="526694" cy="526694"/>
          </a:xfrm>
        </p:grpSpPr>
        <p:sp>
          <p:nvSpPr>
            <p:cNvPr id="76" name="Freeform 76" descr="icons/robot_white.png"/>
            <p:cNvSpPr/>
            <p:nvPr/>
          </p:nvSpPr>
          <p:spPr>
            <a:xfrm>
              <a:off x="0" y="0"/>
              <a:ext cx="526669" cy="526669"/>
            </a:xfrm>
            <a:custGeom>
              <a:avLst/>
              <a:gdLst/>
              <a:ahLst/>
              <a:cxnLst/>
              <a:rect l="l" t="t" r="r" b="b"/>
              <a:pathLst>
                <a:path w="526669" h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4" b="-4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2331720" y="7919742"/>
            <a:ext cx="8229600" cy="480060"/>
            <a:chOff x="0" y="0"/>
            <a:chExt cx="10972800" cy="6400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9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Semana 5+: automatización RPA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2331720" y="8427234"/>
            <a:ext cx="14676120" cy="1165860"/>
            <a:chOff x="0" y="0"/>
            <a:chExt cx="19568160" cy="15544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9568161" cy="1554480"/>
            </a:xfrm>
            <a:custGeom>
              <a:avLst/>
              <a:gdLst/>
              <a:ahLst/>
              <a:cxnLst/>
              <a:rect l="l" t="t" r="r" b="b"/>
              <a:pathLst>
                <a:path w="19568161" h="1554480">
                  <a:moveTo>
                    <a:pt x="0" y="0"/>
                  </a:moveTo>
                  <a:lnTo>
                    <a:pt x="19568161" y="0"/>
                  </a:lnTo>
                  <a:lnTo>
                    <a:pt x="195681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282" b="-19528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19568160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726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RPA deposita archivos en datos_macroentorno detecta y procesa los archivos nuevos sin intervención manual.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6093" y="2612962"/>
            <a:ext cx="10688033" cy="6053399"/>
          </a:xfrm>
          <a:custGeom>
            <a:avLst/>
            <a:gdLst/>
            <a:ahLst/>
            <a:cxnLst/>
            <a:rect l="l" t="t" r="r" b="b"/>
            <a:pathLst>
              <a:path w="10688033" h="6053399">
                <a:moveTo>
                  <a:pt x="0" y="0"/>
                </a:moveTo>
                <a:lnTo>
                  <a:pt x="10688033" y="0"/>
                </a:lnTo>
                <a:lnTo>
                  <a:pt x="10688033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6223" y="1193905"/>
            <a:ext cx="6228083" cy="83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7"/>
              </a:lnSpc>
            </a:pPr>
            <a:r>
              <a:rPr lang="en-US" sz="5400" b="1">
                <a:solidFill>
                  <a:srgbClr val="201E1D"/>
                </a:solidFill>
                <a:latin typeface="Arial Bold"/>
                <a:ea typeface="Arial Bold"/>
                <a:cs typeface="Arial Bold"/>
                <a:sym typeface="Arial Bold"/>
              </a:rPr>
              <a:t>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08869" y="2210195"/>
            <a:ext cx="4386360" cy="455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5"/>
              </a:lnSpc>
              <a:spcBef>
                <a:spcPct val="0"/>
              </a:spcBef>
            </a:pP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Esta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página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salud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económica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de Ecuador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los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últimos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20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años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Aquí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combina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crecimiento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país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(PIB Real) con las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señales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explican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sus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altibajos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: los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choques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puntuales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(2016 y 2020),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rebote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pospandemia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y la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desaceleración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1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reciente</a:t>
            </a:r>
            <a:r>
              <a:rPr lang="en-US" sz="2441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7926" y="1618034"/>
            <a:ext cx="12145322" cy="6819389"/>
          </a:xfrm>
          <a:custGeom>
            <a:avLst/>
            <a:gdLst/>
            <a:ahLst/>
            <a:cxnLst/>
            <a:rect l="l" t="t" r="r" b="b"/>
            <a:pathLst>
              <a:path w="12145322" h="6819389">
                <a:moveTo>
                  <a:pt x="0" y="0"/>
                </a:moveTo>
                <a:lnTo>
                  <a:pt x="12145321" y="0"/>
                </a:lnTo>
                <a:lnTo>
                  <a:pt x="12145321" y="6819390"/>
                </a:lnTo>
                <a:lnTo>
                  <a:pt x="0" y="6819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200234" y="1778399"/>
            <a:ext cx="4025030" cy="5640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dónde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concentra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económica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Ecuador y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empleo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Aquí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cruza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valor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agregado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bruto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provincia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sector con la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evolución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 mercado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laboral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evidenciando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una 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concentración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Guayas , junto con un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subempleo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creciente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revela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precarización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laboral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668654" y="1338220"/>
            <a:ext cx="4759333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dónde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hay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crecimiento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la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educativa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Aquí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cruza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bachilleres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la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activas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provincia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para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zonas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donde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sobran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las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oportunidades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locales (Bolívar, Esmeraldas, Carchi), es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decir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potencial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educación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superior que hoy no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siendo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atendida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cerca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esas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provincias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C2431D-9B22-4A05-ADF5-278210367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17" y="1562100"/>
            <a:ext cx="11175412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7791" y="1583588"/>
            <a:ext cx="9715185" cy="83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 b="1">
                <a:solidFill>
                  <a:srgbClr val="201E1D"/>
                </a:solidFill>
                <a:latin typeface="Arial Bold"/>
                <a:ea typeface="Arial Bold"/>
                <a:cs typeface="Arial Bold"/>
                <a:sym typeface="Arial Bold"/>
              </a:rPr>
              <a:t>Conclusiones y trabajo futuro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7791" y="3238500"/>
            <a:ext cx="11695433" cy="3606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C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arquitectura </a:t>
            </a:r>
            <a:r>
              <a:rPr lang="es-EC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Bronze</a:t>
            </a:r>
            <a:r>
              <a:rPr lang="es-EC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Silver, Gold separar la carga bruta, la transformación y la capa analítica. Esta separación facilita el mantenimiento y la actualización de </a:t>
            </a:r>
            <a:r>
              <a:rPr lang="es-EC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capa de forma independiente.</a:t>
            </a:r>
            <a:endParaRPr lang="es-EC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4212"/>
              </a:lnSpc>
            </a:pP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Diseñar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el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modelo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relacional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antes de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programar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redujo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errores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700" dirty="0" err="1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durante</a:t>
            </a:r>
            <a:r>
              <a:rPr lang="en-US" sz="2700" dirty="0">
                <a:solidFill>
                  <a:srgbClr val="201E1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la carga.</a:t>
            </a:r>
          </a:p>
          <a:p>
            <a:pPr algn="l">
              <a:lnSpc>
                <a:spcPts val="4212"/>
              </a:lnSpc>
            </a:pPr>
            <a:endParaRPr lang="en-US" sz="2700" dirty="0">
              <a:solidFill>
                <a:srgbClr val="201E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362022" y="9456658"/>
            <a:ext cx="3554473" cy="506587"/>
            <a:chOff x="0" y="0"/>
            <a:chExt cx="4739297" cy="6754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39259" cy="675386"/>
            </a:xfrm>
            <a:custGeom>
              <a:avLst/>
              <a:gdLst/>
              <a:ahLst/>
              <a:cxnLst/>
              <a:rect l="l" t="t" r="r" b="b"/>
              <a:pathLst>
                <a:path w="4739259" h="675386">
                  <a:moveTo>
                    <a:pt x="0" y="337693"/>
                  </a:moveTo>
                  <a:cubicBezTo>
                    <a:pt x="0" y="151257"/>
                    <a:pt x="151257" y="0"/>
                    <a:pt x="337693" y="0"/>
                  </a:cubicBezTo>
                  <a:lnTo>
                    <a:pt x="4401566" y="0"/>
                  </a:lnTo>
                  <a:cubicBezTo>
                    <a:pt x="4588129" y="0"/>
                    <a:pt x="4739259" y="151257"/>
                    <a:pt x="4739259" y="337693"/>
                  </a:cubicBezTo>
                  <a:cubicBezTo>
                    <a:pt x="4739259" y="524129"/>
                    <a:pt x="4588002" y="675386"/>
                    <a:pt x="4401566" y="675386"/>
                  </a:cubicBezTo>
                  <a:lnTo>
                    <a:pt x="337693" y="675386"/>
                  </a:lnTo>
                  <a:cubicBezTo>
                    <a:pt x="151257" y="675513"/>
                    <a:pt x="0" y="524256"/>
                    <a:pt x="0" y="337693"/>
                  </a:cubicBezTo>
                  <a:close/>
                </a:path>
              </a:pathLst>
            </a:custGeom>
            <a:solidFill>
              <a:srgbClr val="EBDDC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362022" y="9456658"/>
            <a:ext cx="3554473" cy="506587"/>
            <a:chOff x="0" y="0"/>
            <a:chExt cx="4739297" cy="67545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4739259" cy="675513"/>
            </a:xfrm>
            <a:custGeom>
              <a:avLst/>
              <a:gdLst/>
              <a:ahLst/>
              <a:cxnLst/>
              <a:rect l="l" t="t" r="r" b="b"/>
              <a:pathLst>
                <a:path w="4739259" h="675513">
                  <a:moveTo>
                    <a:pt x="0" y="0"/>
                  </a:moveTo>
                  <a:lnTo>
                    <a:pt x="4739259" y="0"/>
                  </a:lnTo>
                  <a:lnTo>
                    <a:pt x="4739259" y="675513"/>
                  </a:lnTo>
                  <a:lnTo>
                    <a:pt x="0" y="675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1" r="-152" b="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77790" y="7180602"/>
            <a:ext cx="11695433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Próximo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paso: </a:t>
            </a:r>
          </a:p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Integrar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flujo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del pipeline con </a:t>
            </a: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de RPA .</a:t>
            </a:r>
          </a:p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Un framework de ingesta configurable para </a:t>
            </a: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nuevas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0" dirty="0" err="1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r>
              <a:rPr lang="en-US" sz="2250" dirty="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53289" y="3849691"/>
            <a:ext cx="4981423" cy="1235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6"/>
              </a:lnSpc>
            </a:pPr>
            <a:r>
              <a:rPr lang="en-US" sz="945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51062" y="5430793"/>
            <a:ext cx="9985877" cy="108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150">
                <a:solidFill>
                  <a:srgbClr val="211D1D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Preguntas sobre el pipeline, el modelo de datos o el tablero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4169" y="9028471"/>
            <a:ext cx="2479662" cy="24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1800">
                <a:solidFill>
                  <a:srgbClr val="211D1D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meruiz22@utpl.edu.ec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Galería</Template>
  <TotalTime>133</TotalTime>
  <Words>427</Words>
  <Application>Microsoft Office PowerPoint</Application>
  <PresentationFormat>Personalizado</PresentationFormat>
  <Paragraphs>76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Arial Bold</vt:lpstr>
      <vt:lpstr>Arial</vt:lpstr>
      <vt:lpstr>Calibri (MS) Bold</vt:lpstr>
      <vt:lpstr>Gill Sans MT</vt:lpstr>
      <vt:lpstr>Times New Roman</vt:lpstr>
      <vt:lpstr>Calibri (MS)</vt:lpstr>
      <vt:lpstr>Cambria Bold</vt:lpstr>
      <vt:lpstr>Calibri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Practicum 2.2 Pipeline de datos final.pptx</dc:title>
  <cp:lastModifiedBy>MARTIN EMANUEL RUIZ SANCHEZ</cp:lastModifiedBy>
  <cp:revision>10</cp:revision>
  <dcterms:created xsi:type="dcterms:W3CDTF">2006-08-16T00:00:00Z</dcterms:created>
  <dcterms:modified xsi:type="dcterms:W3CDTF">2026-07-23T18:04:40Z</dcterms:modified>
  <dc:identifier>DAHQMS6bwmM</dc:identifier>
</cp:coreProperties>
</file>