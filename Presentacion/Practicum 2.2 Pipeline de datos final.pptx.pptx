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5"/>
  </p:notes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Arial" charset="1" panose="020B0604020202020204"/>
      <p:regular r:id="rId18"/>
    </p:embeddedFont>
    <p:embeddedFont>
      <p:font typeface="Arial Bold" charset="1" panose="020B0704020202020204"/>
      <p:regular r:id="rId19"/>
    </p:embeddedFont>
    <p:embeddedFont>
      <p:font typeface="Calibri (MS)" charset="1" panose="020F0502020204030204"/>
      <p:regular r:id="rId20"/>
    </p:embeddedFont>
    <p:embeddedFont>
      <p:font typeface="Cambria Bold" charset="1" panose="02040803050406030204"/>
      <p:regular r:id="rId22"/>
    </p:embeddedFont>
    <p:embeddedFont>
      <p:font typeface="Calibri (MS) Bold" charset="1" panose="020F0702030404030204"/>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notesMasters/notesMaster1.xml" Type="http://schemas.openxmlformats.org/officeDocument/2006/relationships/notesMaster"/><Relationship Id="rId16" Target="theme/theme2.xml" Type="http://schemas.openxmlformats.org/officeDocument/2006/relationships/theme"/><Relationship Id="rId17" Target="notesSlides/notesSlide1.xml" Type="http://schemas.openxmlformats.org/officeDocument/2006/relationships/note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notesSlides/notesSlide2.xml" Type="http://schemas.openxmlformats.org/officeDocument/2006/relationships/notesSlide"/><Relationship Id="rId22" Target="fonts/font22.fntdata" Type="http://schemas.openxmlformats.org/officeDocument/2006/relationships/font"/><Relationship Id="rId23" Target="notesSlides/notesSlide3.xml" Type="http://schemas.openxmlformats.org/officeDocument/2006/relationships/notesSlide"/><Relationship Id="rId24" Target="fonts/font24.fntdata" Type="http://schemas.openxmlformats.org/officeDocument/2006/relationships/font"/><Relationship Id="rId25" Target="notesSlides/notesSlide4.xml" Type="http://schemas.openxmlformats.org/officeDocument/2006/relationships/notesSlide"/><Relationship Id="rId26" Target="notesSlides/notesSlide5.xml" Type="http://schemas.openxmlformats.org/officeDocument/2006/relationships/notesSlide"/><Relationship Id="rId27" Target="notesSlides/notesSlide6.xml" Type="http://schemas.openxmlformats.org/officeDocument/2006/relationships/notesSlide"/><Relationship Id="rId28" Target="notesSlides/notesSlide7.xml" Type="http://schemas.openxmlformats.org/officeDocument/2006/relationships/notesSlide"/><Relationship Id="rId29" Target="notesSlides/notesSlide8.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5.png" Type="http://schemas.openxmlformats.org/officeDocument/2006/relationships/image"/><Relationship Id="rId6" Target="../media/image6.png" Type="http://schemas.openxmlformats.org/officeDocument/2006/relationships/image"/><Relationship Id="rId7" Target="../media/image7.pn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0.png" Type="http://schemas.openxmlformats.org/officeDocument/2006/relationships/image"/><Relationship Id="rId4" Target="../media/image4.jpeg" Type="http://schemas.openxmlformats.org/officeDocument/2006/relationships/image"/><Relationship Id="rId5" Target="../media/image11.png" Type="http://schemas.openxmlformats.org/officeDocument/2006/relationships/image"/><Relationship Id="rId6" Target="../media/image12.png" Type="http://schemas.openxmlformats.org/officeDocument/2006/relationships/image"/><Relationship Id="rId7" Target="../media/image3.png" Type="http://schemas.openxmlformats.org/officeDocument/2006/relationships/image"/><Relationship Id="rId8" Target="../media/image13.png" Type="http://schemas.openxmlformats.org/officeDocument/2006/relationships/image"/><Relationship Id="rId9" Target="../media/image14.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5.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6.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8.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Freeform 2" id="2"/>
          <p:cNvSpPr/>
          <p:nvPr/>
        </p:nvSpPr>
        <p:spPr>
          <a:xfrm flipH="false" flipV="false" rot="0">
            <a:off x="1163736" y="823030"/>
            <a:ext cx="3947961" cy="1588494"/>
          </a:xfrm>
          <a:custGeom>
            <a:avLst/>
            <a:gdLst/>
            <a:ahLst/>
            <a:cxnLst/>
            <a:rect r="r" b="b" t="t" l="l"/>
            <a:pathLst>
              <a:path h="1588494" w="3947961">
                <a:moveTo>
                  <a:pt x="0" y="0"/>
                </a:moveTo>
                <a:lnTo>
                  <a:pt x="3947961" y="0"/>
                </a:lnTo>
                <a:lnTo>
                  <a:pt x="3947961" y="1588494"/>
                </a:lnTo>
                <a:lnTo>
                  <a:pt x="0" y="1588494"/>
                </a:lnTo>
                <a:lnTo>
                  <a:pt x="0" y="0"/>
                </a:lnTo>
                <a:close/>
              </a:path>
            </a:pathLst>
          </a:custGeom>
          <a:blipFill>
            <a:blip r:embed="rId3"/>
            <a:stretch>
              <a:fillRect l="0" t="0" r="0" b="0"/>
            </a:stretch>
          </a:blipFill>
        </p:spPr>
      </p:sp>
      <p:sp>
        <p:nvSpPr>
          <p:cNvPr name="TextBox 3" id="3"/>
          <p:cNvSpPr txBox="true"/>
          <p:nvPr/>
        </p:nvSpPr>
        <p:spPr>
          <a:xfrm rot="0">
            <a:off x="1163736" y="2563816"/>
            <a:ext cx="15960538" cy="3806828"/>
          </a:xfrm>
          <a:prstGeom prst="rect">
            <a:avLst/>
          </a:prstGeom>
        </p:spPr>
        <p:txBody>
          <a:bodyPr anchor="t" rtlCol="false" tIns="0" lIns="0" bIns="0" rIns="0">
            <a:spAutoFit/>
          </a:bodyPr>
          <a:lstStyle/>
          <a:p>
            <a:pPr algn="ctr">
              <a:lnSpc>
                <a:spcPts val="10586"/>
              </a:lnSpc>
            </a:pPr>
            <a:r>
              <a:rPr lang="en-US" sz="9450">
                <a:solidFill>
                  <a:srgbClr val="201E1D"/>
                </a:solidFill>
                <a:latin typeface="Arial"/>
                <a:ea typeface="Arial"/>
                <a:cs typeface="Arial"/>
                <a:sym typeface="Arial"/>
              </a:rPr>
              <a:t>Pipeline de Datos del Macroentorno Ecuatoriano</a:t>
            </a:r>
          </a:p>
        </p:txBody>
      </p:sp>
      <p:sp>
        <p:nvSpPr>
          <p:cNvPr name="TextBox 4" id="4"/>
          <p:cNvSpPr txBox="true"/>
          <p:nvPr/>
        </p:nvSpPr>
        <p:spPr>
          <a:xfrm rot="0">
            <a:off x="4151062" y="6716668"/>
            <a:ext cx="9985877" cy="1078506"/>
          </a:xfrm>
          <a:prstGeom prst="rect">
            <a:avLst/>
          </a:prstGeom>
        </p:spPr>
        <p:txBody>
          <a:bodyPr anchor="t" rtlCol="false" tIns="0" lIns="0" bIns="0" rIns="0">
            <a:spAutoFit/>
          </a:bodyPr>
          <a:lstStyle/>
          <a:p>
            <a:pPr algn="ctr">
              <a:lnSpc>
                <a:spcPts val="4212"/>
              </a:lnSpc>
            </a:pPr>
            <a:r>
              <a:rPr lang="en-US" sz="3150">
                <a:solidFill>
                  <a:srgbClr val="211D1D">
                    <a:alpha val="54902"/>
                  </a:srgbClr>
                </a:solidFill>
                <a:latin typeface="Arial"/>
                <a:ea typeface="Arial"/>
                <a:cs typeface="Arial"/>
                <a:sym typeface="Arial"/>
              </a:rPr>
              <a:t>Limpieza, modelo relacional y dashboard analítico para el Tablero Macroentorno</a:t>
            </a:r>
          </a:p>
        </p:txBody>
      </p:sp>
      <p:sp>
        <p:nvSpPr>
          <p:cNvPr name="TextBox 5" id="5"/>
          <p:cNvSpPr txBox="true"/>
          <p:nvPr/>
        </p:nvSpPr>
        <p:spPr>
          <a:xfrm rot="0">
            <a:off x="5545874" y="9028471"/>
            <a:ext cx="3259179" cy="242602"/>
          </a:xfrm>
          <a:prstGeom prst="rect">
            <a:avLst/>
          </a:prstGeom>
        </p:spPr>
        <p:txBody>
          <a:bodyPr anchor="t" rtlCol="false" tIns="0" lIns="0" bIns="0" rIns="0">
            <a:spAutoFit/>
          </a:bodyPr>
          <a:lstStyle/>
          <a:p>
            <a:pPr algn="ctr">
              <a:lnSpc>
                <a:spcPts val="2901"/>
              </a:lnSpc>
            </a:pPr>
            <a:r>
              <a:rPr lang="en-US" sz="1800">
                <a:solidFill>
                  <a:srgbClr val="211D1D">
                    <a:alpha val="54902"/>
                  </a:srgbClr>
                </a:solidFill>
                <a:latin typeface="Arial"/>
                <a:ea typeface="Arial"/>
                <a:cs typeface="Arial"/>
                <a:sym typeface="Arial"/>
              </a:rPr>
              <a:t>Martin Emanuel Ruiz Sanchez</a:t>
            </a:r>
          </a:p>
        </p:txBody>
      </p:sp>
      <p:sp>
        <p:nvSpPr>
          <p:cNvPr name="TextBox 6" id="6"/>
          <p:cNvSpPr txBox="true"/>
          <p:nvPr/>
        </p:nvSpPr>
        <p:spPr>
          <a:xfrm rot="0">
            <a:off x="8838686" y="9028471"/>
            <a:ext cx="83553" cy="242602"/>
          </a:xfrm>
          <a:prstGeom prst="rect">
            <a:avLst/>
          </a:prstGeom>
        </p:spPr>
        <p:txBody>
          <a:bodyPr anchor="t" rtlCol="false" tIns="0" lIns="0" bIns="0" rIns="0">
            <a:spAutoFit/>
          </a:bodyPr>
          <a:lstStyle/>
          <a:p>
            <a:pPr algn="ctr">
              <a:lnSpc>
                <a:spcPts val="2901"/>
              </a:lnSpc>
            </a:pPr>
            <a:r>
              <a:rPr lang="en-US" sz="1800">
                <a:solidFill>
                  <a:srgbClr val="211D1D">
                    <a:alpha val="54902"/>
                  </a:srgbClr>
                </a:solidFill>
                <a:latin typeface="Arial"/>
                <a:ea typeface="Arial"/>
                <a:cs typeface="Arial"/>
                <a:sym typeface="Arial"/>
              </a:rPr>
              <a:t>·</a:t>
            </a:r>
          </a:p>
        </p:txBody>
      </p:sp>
      <p:sp>
        <p:nvSpPr>
          <p:cNvPr name="TextBox 7" id="7"/>
          <p:cNvSpPr txBox="true"/>
          <p:nvPr/>
        </p:nvSpPr>
        <p:spPr>
          <a:xfrm rot="0">
            <a:off x="10048623" y="9028471"/>
            <a:ext cx="1600761" cy="362978"/>
          </a:xfrm>
          <a:prstGeom prst="rect">
            <a:avLst/>
          </a:prstGeom>
        </p:spPr>
        <p:txBody>
          <a:bodyPr anchor="t" rtlCol="false" tIns="0" lIns="0" bIns="0" rIns="0">
            <a:spAutoFit/>
          </a:bodyPr>
          <a:lstStyle/>
          <a:p>
            <a:pPr algn="ctr">
              <a:lnSpc>
                <a:spcPts val="2901"/>
              </a:lnSpc>
            </a:pPr>
            <a:r>
              <a:rPr lang="en-US" sz="1800">
                <a:solidFill>
                  <a:srgbClr val="211D1D">
                    <a:alpha val="54902"/>
                  </a:srgbClr>
                </a:solidFill>
                <a:latin typeface="Arial"/>
                <a:ea typeface="Arial"/>
                <a:cs typeface="Arial"/>
                <a:sym typeface="Arial"/>
              </a:rPr>
              <a:t>Practicum 2.2 ·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Freeform 2" id="2"/>
          <p:cNvSpPr/>
          <p:nvPr/>
        </p:nvSpPr>
        <p:spPr>
          <a:xfrm flipH="false" flipV="false" rot="0">
            <a:off x="13624522" y="6270310"/>
            <a:ext cx="3834764" cy="3834764"/>
          </a:xfrm>
          <a:custGeom>
            <a:avLst/>
            <a:gdLst/>
            <a:ahLst/>
            <a:cxnLst/>
            <a:rect r="r" b="b" t="t" l="l"/>
            <a:pathLst>
              <a:path h="3834764" w="3834764">
                <a:moveTo>
                  <a:pt x="0" y="0"/>
                </a:moveTo>
                <a:lnTo>
                  <a:pt x="3834763" y="0"/>
                </a:lnTo>
                <a:lnTo>
                  <a:pt x="3834763" y="3834764"/>
                </a:lnTo>
                <a:lnTo>
                  <a:pt x="0" y="3834764"/>
                </a:lnTo>
                <a:lnTo>
                  <a:pt x="0" y="0"/>
                </a:lnTo>
                <a:close/>
              </a:path>
            </a:pathLst>
          </a:custGeom>
          <a:blipFill>
            <a:blip r:embed="rId2"/>
            <a:stretch>
              <a:fillRect l="0" t="0" r="0" b="0"/>
            </a:stretch>
          </a:blipFill>
        </p:spPr>
      </p:sp>
      <p:sp>
        <p:nvSpPr>
          <p:cNvPr name="TextBox 3" id="3"/>
          <p:cNvSpPr txBox="true"/>
          <p:nvPr/>
        </p:nvSpPr>
        <p:spPr>
          <a:xfrm rot="0">
            <a:off x="1377791" y="1583588"/>
            <a:ext cx="9029431" cy="839718"/>
          </a:xfrm>
          <a:prstGeom prst="rect">
            <a:avLst/>
          </a:prstGeom>
        </p:spPr>
        <p:txBody>
          <a:bodyPr anchor="t" rtlCol="false" tIns="0" lIns="0" bIns="0" rIns="0">
            <a:spAutoFit/>
          </a:bodyPr>
          <a:lstStyle/>
          <a:p>
            <a:pPr algn="l">
              <a:lnSpc>
                <a:spcPts val="6317"/>
              </a:lnSpc>
            </a:pPr>
            <a:r>
              <a:rPr lang="en-US" sz="5400" b="true">
                <a:solidFill>
                  <a:srgbClr val="201E1D"/>
                </a:solidFill>
                <a:latin typeface="Arial Bold"/>
                <a:ea typeface="Arial Bold"/>
                <a:cs typeface="Arial Bold"/>
                <a:sym typeface="Arial Bold"/>
              </a:rPr>
              <a:t>RESUMEN DE</a:t>
            </a:r>
            <a:r>
              <a:rPr lang="en-US" sz="5400" b="true">
                <a:solidFill>
                  <a:srgbClr val="201E1D"/>
                </a:solidFill>
                <a:latin typeface="Arial Bold"/>
                <a:ea typeface="Arial Bold"/>
                <a:cs typeface="Arial Bold"/>
                <a:sym typeface="Arial Bold"/>
              </a:rPr>
              <a:t>L PROYECTO</a:t>
            </a:r>
          </a:p>
        </p:txBody>
      </p:sp>
      <p:sp>
        <p:nvSpPr>
          <p:cNvPr name="TextBox 4" id="4"/>
          <p:cNvSpPr txBox="true"/>
          <p:nvPr/>
        </p:nvSpPr>
        <p:spPr>
          <a:xfrm rot="0">
            <a:off x="1890491" y="4128187"/>
            <a:ext cx="14046282" cy="1114545"/>
          </a:xfrm>
          <a:prstGeom prst="rect">
            <a:avLst/>
          </a:prstGeom>
        </p:spPr>
        <p:txBody>
          <a:bodyPr anchor="t" rtlCol="false" tIns="0" lIns="0" bIns="0" rIns="0">
            <a:spAutoFit/>
          </a:bodyPr>
          <a:lstStyle/>
          <a:p>
            <a:pPr algn="ctr">
              <a:lnSpc>
                <a:spcPts val="2849"/>
              </a:lnSpc>
              <a:spcBef>
                <a:spcPct val="0"/>
              </a:spcBef>
            </a:pPr>
            <a:r>
              <a:rPr lang="en-US" sz="2374">
                <a:solidFill>
                  <a:srgbClr val="201E1D"/>
                </a:solidFill>
                <a:latin typeface="Calibri (MS)"/>
                <a:ea typeface="Calibri (MS)"/>
                <a:cs typeface="Calibri (MS)"/>
                <a:sym typeface="Calibri (MS)"/>
              </a:rPr>
              <a:t>El proyecto transforma archivos crudos de fuentes públicas ecuatorianas  en un dashboard analítico de Power BI capaz de responder  preguntas estratégicas sobre la economía del Ecuador, siguiendo la arquitectura medallón Bronze → Silver → Gold.</a:t>
            </a:r>
          </a:p>
        </p:txBody>
      </p:sp>
      <p:sp>
        <p:nvSpPr>
          <p:cNvPr name="TextBox 5" id="5"/>
          <p:cNvSpPr txBox="true"/>
          <p:nvPr/>
        </p:nvSpPr>
        <p:spPr>
          <a:xfrm rot="0">
            <a:off x="1377791" y="2562924"/>
            <a:ext cx="15965537" cy="839718"/>
          </a:xfrm>
          <a:prstGeom prst="rect">
            <a:avLst/>
          </a:prstGeom>
        </p:spPr>
        <p:txBody>
          <a:bodyPr anchor="t" rtlCol="false" tIns="0" lIns="0" bIns="0" rIns="0">
            <a:spAutoFit/>
          </a:bodyPr>
          <a:lstStyle/>
          <a:p>
            <a:pPr algn="l">
              <a:lnSpc>
                <a:spcPts val="6317"/>
              </a:lnSpc>
            </a:pPr>
            <a:r>
              <a:rPr lang="en-US" sz="5400" b="true">
                <a:solidFill>
                  <a:srgbClr val="201E1D"/>
                </a:solidFill>
                <a:latin typeface="Arial Bold"/>
                <a:ea typeface="Arial Bold"/>
                <a:cs typeface="Arial Bold"/>
                <a:sym typeface="Arial Bold"/>
              </a:rPr>
              <a:t>Un pipeline</a:t>
            </a:r>
            <a:r>
              <a:rPr lang="en-US" sz="5400" b="true">
                <a:solidFill>
                  <a:srgbClr val="201E1D"/>
                </a:solidFill>
                <a:latin typeface="Arial Bold"/>
                <a:ea typeface="Arial Bold"/>
                <a:cs typeface="Arial Bold"/>
                <a:sym typeface="Arial Bold"/>
              </a:rPr>
              <a:t>, de dato crudo a decisión estratégica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grpSp>
        <p:nvGrpSpPr>
          <p:cNvPr name="Group 2" id="2"/>
          <p:cNvGrpSpPr/>
          <p:nvPr/>
        </p:nvGrpSpPr>
        <p:grpSpPr>
          <a:xfrm rot="0">
            <a:off x="822960" y="2815590"/>
            <a:ext cx="3909060" cy="5966460"/>
            <a:chOff x="0" y="0"/>
            <a:chExt cx="5212080" cy="7955280"/>
          </a:xfrm>
        </p:grpSpPr>
        <p:sp>
          <p:nvSpPr>
            <p:cNvPr name="Freeform 3" id="3"/>
            <p:cNvSpPr/>
            <p:nvPr/>
          </p:nvSpPr>
          <p:spPr>
            <a:xfrm flipH="false" flipV="false" rot="0">
              <a:off x="0" y="0"/>
              <a:ext cx="5212080" cy="7955280"/>
            </a:xfrm>
            <a:custGeom>
              <a:avLst/>
              <a:gdLst/>
              <a:ahLst/>
              <a:cxnLst/>
              <a:rect r="r" b="b" t="t" l="l"/>
              <a:pathLst>
                <a:path h="7955280" w="5212080">
                  <a:moveTo>
                    <a:pt x="0" y="182880"/>
                  </a:moveTo>
                  <a:cubicBezTo>
                    <a:pt x="0" y="81915"/>
                    <a:pt x="81915" y="0"/>
                    <a:pt x="182880" y="0"/>
                  </a:cubicBezTo>
                  <a:lnTo>
                    <a:pt x="5029200" y="0"/>
                  </a:lnTo>
                  <a:cubicBezTo>
                    <a:pt x="5130165" y="0"/>
                    <a:pt x="5212080" y="81915"/>
                    <a:pt x="5212080" y="182880"/>
                  </a:cubicBezTo>
                  <a:lnTo>
                    <a:pt x="5212080" y="7772400"/>
                  </a:lnTo>
                  <a:cubicBezTo>
                    <a:pt x="5212080" y="7873365"/>
                    <a:pt x="5130165" y="7955280"/>
                    <a:pt x="5029200" y="7955280"/>
                  </a:cubicBezTo>
                  <a:lnTo>
                    <a:pt x="182880" y="7955280"/>
                  </a:lnTo>
                  <a:cubicBezTo>
                    <a:pt x="81915" y="7955280"/>
                    <a:pt x="0" y="7873365"/>
                    <a:pt x="0" y="7772400"/>
                  </a:cubicBezTo>
                  <a:close/>
                </a:path>
              </a:pathLst>
            </a:custGeom>
            <a:solidFill>
              <a:srgbClr val="FFFFFF"/>
            </a:solidFill>
          </p:spPr>
        </p:sp>
      </p:grpSp>
      <p:grpSp>
        <p:nvGrpSpPr>
          <p:cNvPr name="Group 4" id="4"/>
          <p:cNvGrpSpPr/>
          <p:nvPr/>
        </p:nvGrpSpPr>
        <p:grpSpPr>
          <a:xfrm rot="0">
            <a:off x="1152144" y="3199638"/>
            <a:ext cx="850392" cy="850392"/>
            <a:chOff x="0" y="0"/>
            <a:chExt cx="1133856" cy="1133856"/>
          </a:xfrm>
        </p:grpSpPr>
        <p:sp>
          <p:nvSpPr>
            <p:cNvPr name="Freeform 5" id="5"/>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087E8B"/>
            </a:solidFill>
          </p:spPr>
        </p:sp>
      </p:grpSp>
      <p:grpSp>
        <p:nvGrpSpPr>
          <p:cNvPr name="Group 6" id="6"/>
          <p:cNvGrpSpPr/>
          <p:nvPr/>
        </p:nvGrpSpPr>
        <p:grpSpPr>
          <a:xfrm rot="0">
            <a:off x="1373248" y="3420742"/>
            <a:ext cx="408184" cy="408184"/>
            <a:chOff x="0" y="0"/>
            <a:chExt cx="544246" cy="544246"/>
          </a:xfrm>
        </p:grpSpPr>
        <p:sp>
          <p:nvSpPr>
            <p:cNvPr name="Freeform 7" id="7" descr="icons/chartline_white.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3"/>
              <a:stretch>
                <a:fillRect l="0" t="0" r="-9" b="-9"/>
              </a:stretch>
            </a:blipFill>
          </p:spPr>
        </p:sp>
      </p:grpSp>
      <p:grpSp>
        <p:nvGrpSpPr>
          <p:cNvPr name="Group 8" id="8"/>
          <p:cNvGrpSpPr/>
          <p:nvPr/>
        </p:nvGrpSpPr>
        <p:grpSpPr>
          <a:xfrm rot="0">
            <a:off x="3566160" y="3117342"/>
            <a:ext cx="891540" cy="822960"/>
            <a:chOff x="0" y="0"/>
            <a:chExt cx="1188720" cy="1097280"/>
          </a:xfrm>
        </p:grpSpPr>
        <p:sp>
          <p:nvSpPr>
            <p:cNvPr name="Freeform 9" id="9"/>
            <p:cNvSpPr/>
            <p:nvPr/>
          </p:nvSpPr>
          <p:spPr>
            <a:xfrm flipH="false" flipV="false" rot="0">
              <a:off x="0" y="0"/>
              <a:ext cx="1188720" cy="1097280"/>
            </a:xfrm>
            <a:custGeom>
              <a:avLst/>
              <a:gdLst/>
              <a:ahLst/>
              <a:cxnLst/>
              <a:rect r="r" b="b" t="t" l="l"/>
              <a:pathLst>
                <a:path h="1097280" w="1188720">
                  <a:moveTo>
                    <a:pt x="0" y="0"/>
                  </a:moveTo>
                  <a:lnTo>
                    <a:pt x="1188720" y="0"/>
                  </a:lnTo>
                  <a:lnTo>
                    <a:pt x="1188720" y="1097280"/>
                  </a:lnTo>
                  <a:lnTo>
                    <a:pt x="0" y="1097280"/>
                  </a:lnTo>
                  <a:close/>
                </a:path>
              </a:pathLst>
            </a:custGeom>
            <a:blipFill>
              <a:blip r:embed="rId4">
                <a:alphaModFix amt="0"/>
              </a:blip>
              <a:stretch>
                <a:fillRect l="-68434" t="0" r="-68434" b="0"/>
              </a:stretch>
            </a:blipFill>
          </p:spPr>
        </p:sp>
        <p:sp>
          <p:nvSpPr>
            <p:cNvPr name="TextBox 10" id="10"/>
            <p:cNvSpPr txBox="true"/>
            <p:nvPr/>
          </p:nvSpPr>
          <p:spPr>
            <a:xfrm>
              <a:off x="0" y="0"/>
              <a:ext cx="1188720" cy="1097280"/>
            </a:xfrm>
            <a:prstGeom prst="rect">
              <a:avLst/>
            </a:prstGeom>
          </p:spPr>
          <p:txBody>
            <a:bodyPr anchor="ctr" rtlCol="false" tIns="0" lIns="0" bIns="0" rIns="0"/>
            <a:lstStyle/>
            <a:p>
              <a:pPr algn="r">
                <a:lnSpc>
                  <a:spcPts val="4680"/>
                </a:lnSpc>
              </a:pPr>
              <a:r>
                <a:rPr lang="en-US" sz="3900" b="true">
                  <a:solidFill>
                    <a:srgbClr val="087E8B"/>
                  </a:solidFill>
                  <a:latin typeface="Cambria Bold"/>
                  <a:ea typeface="Cambria Bold"/>
                  <a:cs typeface="Cambria Bold"/>
                  <a:sym typeface="Cambria Bold"/>
                </a:rPr>
                <a:t>5</a:t>
              </a:r>
            </a:p>
          </p:txBody>
        </p:sp>
      </p:grpSp>
      <p:grpSp>
        <p:nvGrpSpPr>
          <p:cNvPr name="Group 11" id="11"/>
          <p:cNvGrpSpPr/>
          <p:nvPr/>
        </p:nvGrpSpPr>
        <p:grpSpPr>
          <a:xfrm rot="0">
            <a:off x="3429000" y="3803142"/>
            <a:ext cx="1165860" cy="411480"/>
            <a:chOff x="0" y="0"/>
            <a:chExt cx="1554480" cy="548640"/>
          </a:xfrm>
        </p:grpSpPr>
        <p:sp>
          <p:nvSpPr>
            <p:cNvPr name="Freeform 12" id="12"/>
            <p:cNvSpPr/>
            <p:nvPr/>
          </p:nvSpPr>
          <p:spPr>
            <a:xfrm flipH="false" flipV="false" rot="0">
              <a:off x="0" y="0"/>
              <a:ext cx="1554480" cy="548640"/>
            </a:xfrm>
            <a:custGeom>
              <a:avLst/>
              <a:gdLst/>
              <a:ahLst/>
              <a:cxnLst/>
              <a:rect r="r" b="b" t="t" l="l"/>
              <a:pathLst>
                <a:path h="548640" w="1554480">
                  <a:moveTo>
                    <a:pt x="0" y="0"/>
                  </a:moveTo>
                  <a:lnTo>
                    <a:pt x="1554480" y="0"/>
                  </a:lnTo>
                  <a:lnTo>
                    <a:pt x="1554480" y="548640"/>
                  </a:lnTo>
                  <a:lnTo>
                    <a:pt x="0" y="548640"/>
                  </a:lnTo>
                  <a:close/>
                </a:path>
              </a:pathLst>
            </a:custGeom>
            <a:blipFill>
              <a:blip r:embed="rId4">
                <a:alphaModFix amt="0"/>
              </a:blip>
              <a:stretch>
                <a:fillRect l="0" t="-5207" r="0" b="-5207"/>
              </a:stretch>
            </a:blipFill>
          </p:spPr>
        </p:sp>
        <p:sp>
          <p:nvSpPr>
            <p:cNvPr name="TextBox 13" id="13"/>
            <p:cNvSpPr txBox="true"/>
            <p:nvPr/>
          </p:nvSpPr>
          <p:spPr>
            <a:xfrm>
              <a:off x="0" y="-28575"/>
              <a:ext cx="1554480" cy="577215"/>
            </a:xfrm>
            <a:prstGeom prst="rect">
              <a:avLst/>
            </a:prstGeom>
          </p:spPr>
          <p:txBody>
            <a:bodyPr anchor="ctr" rtlCol="false" tIns="0" lIns="0" bIns="0" rIns="0"/>
            <a:lstStyle/>
            <a:p>
              <a:pPr algn="r">
                <a:lnSpc>
                  <a:spcPts val="1620"/>
                </a:lnSpc>
              </a:pPr>
              <a:r>
                <a:rPr lang="en-US" sz="1350">
                  <a:solidFill>
                    <a:srgbClr val="5B7A8C"/>
                  </a:solidFill>
                  <a:latin typeface="Calibri (MS)"/>
                  <a:ea typeface="Calibri (MS)"/>
                  <a:cs typeface="Calibri (MS)"/>
                  <a:sym typeface="Calibri (MS)"/>
                </a:rPr>
                <a:t>archivos</a:t>
              </a:r>
            </a:p>
          </p:txBody>
        </p:sp>
      </p:grpSp>
      <p:grpSp>
        <p:nvGrpSpPr>
          <p:cNvPr name="Group 14" id="14"/>
          <p:cNvGrpSpPr/>
          <p:nvPr/>
        </p:nvGrpSpPr>
        <p:grpSpPr>
          <a:xfrm rot="0">
            <a:off x="1124712" y="4255770"/>
            <a:ext cx="3305556" cy="1028700"/>
            <a:chOff x="0" y="0"/>
            <a:chExt cx="4407408" cy="1371600"/>
          </a:xfrm>
        </p:grpSpPr>
        <p:sp>
          <p:nvSpPr>
            <p:cNvPr name="Freeform 15" id="15"/>
            <p:cNvSpPr/>
            <p:nvPr/>
          </p:nvSpPr>
          <p:spPr>
            <a:xfrm flipH="false" flipV="false" rot="0">
              <a:off x="0" y="0"/>
              <a:ext cx="4407408" cy="1371600"/>
            </a:xfrm>
            <a:custGeom>
              <a:avLst/>
              <a:gdLst/>
              <a:ahLst/>
              <a:cxnLst/>
              <a:rect r="r" b="b" t="t" l="l"/>
              <a:pathLst>
                <a:path h="1371600" w="4407408">
                  <a:moveTo>
                    <a:pt x="0" y="0"/>
                  </a:moveTo>
                  <a:lnTo>
                    <a:pt x="4407408" y="0"/>
                  </a:lnTo>
                  <a:lnTo>
                    <a:pt x="4407408" y="1371600"/>
                  </a:lnTo>
                  <a:lnTo>
                    <a:pt x="0" y="1371600"/>
                  </a:lnTo>
                  <a:close/>
                </a:path>
              </a:pathLst>
            </a:custGeom>
            <a:blipFill>
              <a:blip r:embed="rId4">
                <a:alphaModFix amt="0"/>
              </a:blip>
              <a:stretch>
                <a:fillRect l="0" t="-12611" r="0" b="-12611"/>
              </a:stretch>
            </a:blipFill>
          </p:spPr>
        </p:sp>
        <p:sp>
          <p:nvSpPr>
            <p:cNvPr name="TextBox 16" id="16"/>
            <p:cNvSpPr txBox="true"/>
            <p:nvPr/>
          </p:nvSpPr>
          <p:spPr>
            <a:xfrm>
              <a:off x="0" y="-19050"/>
              <a:ext cx="4407408" cy="1390650"/>
            </a:xfrm>
            <a:prstGeom prst="rect">
              <a:avLst/>
            </a:prstGeom>
          </p:spPr>
          <p:txBody>
            <a:bodyPr anchor="ctr" rtlCol="false" tIns="0" lIns="0" bIns="0" rIns="0"/>
            <a:lstStyle/>
            <a:p>
              <a:pPr algn="l">
                <a:lnSpc>
                  <a:spcPts val="2700"/>
                </a:lnSpc>
              </a:pPr>
              <a:r>
                <a:rPr lang="en-US" sz="2250" b="true">
                  <a:solidFill>
                    <a:srgbClr val="0B3954"/>
                  </a:solidFill>
                  <a:latin typeface="Cambria Bold"/>
                  <a:ea typeface="Cambria Bold"/>
                  <a:cs typeface="Cambria Bold"/>
                  <a:sym typeface="Cambria Bold"/>
                </a:rPr>
                <a:t>Banco Central del Ecuador</a:t>
              </a:r>
            </a:p>
          </p:txBody>
        </p:sp>
      </p:grpSp>
      <p:grpSp>
        <p:nvGrpSpPr>
          <p:cNvPr name="Group 17" id="17"/>
          <p:cNvGrpSpPr/>
          <p:nvPr/>
        </p:nvGrpSpPr>
        <p:grpSpPr>
          <a:xfrm rot="0">
            <a:off x="5061204" y="2815590"/>
            <a:ext cx="3909060" cy="5966460"/>
            <a:chOff x="0" y="0"/>
            <a:chExt cx="5212080" cy="7955280"/>
          </a:xfrm>
        </p:grpSpPr>
        <p:sp>
          <p:nvSpPr>
            <p:cNvPr name="Freeform 18" id="18"/>
            <p:cNvSpPr/>
            <p:nvPr/>
          </p:nvSpPr>
          <p:spPr>
            <a:xfrm flipH="false" flipV="false" rot="0">
              <a:off x="0" y="0"/>
              <a:ext cx="5212080" cy="7955280"/>
            </a:xfrm>
            <a:custGeom>
              <a:avLst/>
              <a:gdLst/>
              <a:ahLst/>
              <a:cxnLst/>
              <a:rect r="r" b="b" t="t" l="l"/>
              <a:pathLst>
                <a:path h="7955280" w="5212080">
                  <a:moveTo>
                    <a:pt x="0" y="182880"/>
                  </a:moveTo>
                  <a:cubicBezTo>
                    <a:pt x="0" y="81915"/>
                    <a:pt x="81915" y="0"/>
                    <a:pt x="182880" y="0"/>
                  </a:cubicBezTo>
                  <a:lnTo>
                    <a:pt x="5029200" y="0"/>
                  </a:lnTo>
                  <a:cubicBezTo>
                    <a:pt x="5130165" y="0"/>
                    <a:pt x="5212080" y="81915"/>
                    <a:pt x="5212080" y="182880"/>
                  </a:cubicBezTo>
                  <a:lnTo>
                    <a:pt x="5212080" y="7772400"/>
                  </a:lnTo>
                  <a:cubicBezTo>
                    <a:pt x="5212080" y="7873365"/>
                    <a:pt x="5130165" y="7955280"/>
                    <a:pt x="5029200" y="7955280"/>
                  </a:cubicBezTo>
                  <a:lnTo>
                    <a:pt x="182880" y="7955280"/>
                  </a:lnTo>
                  <a:cubicBezTo>
                    <a:pt x="81915" y="7955280"/>
                    <a:pt x="0" y="7873365"/>
                    <a:pt x="0" y="7772400"/>
                  </a:cubicBezTo>
                  <a:close/>
                </a:path>
              </a:pathLst>
            </a:custGeom>
            <a:solidFill>
              <a:srgbClr val="FFFFFF"/>
            </a:solidFill>
          </p:spPr>
        </p:sp>
      </p:grpSp>
      <p:grpSp>
        <p:nvGrpSpPr>
          <p:cNvPr name="Group 19" id="19"/>
          <p:cNvGrpSpPr/>
          <p:nvPr/>
        </p:nvGrpSpPr>
        <p:grpSpPr>
          <a:xfrm rot="0">
            <a:off x="5390388" y="3199638"/>
            <a:ext cx="850392" cy="850392"/>
            <a:chOff x="0" y="0"/>
            <a:chExt cx="1133856" cy="1133856"/>
          </a:xfrm>
        </p:grpSpPr>
        <p:sp>
          <p:nvSpPr>
            <p:cNvPr name="Freeform 20" id="20"/>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F9A826"/>
            </a:solidFill>
          </p:spPr>
        </p:sp>
      </p:grpSp>
      <p:grpSp>
        <p:nvGrpSpPr>
          <p:cNvPr name="Group 21" id="21"/>
          <p:cNvGrpSpPr/>
          <p:nvPr/>
        </p:nvGrpSpPr>
        <p:grpSpPr>
          <a:xfrm rot="0">
            <a:off x="5611492" y="3420742"/>
            <a:ext cx="408184" cy="408184"/>
            <a:chOff x="0" y="0"/>
            <a:chExt cx="544246" cy="544246"/>
          </a:xfrm>
        </p:grpSpPr>
        <p:sp>
          <p:nvSpPr>
            <p:cNvPr name="Freeform 22" id="22" descr="icons/users_white.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5"/>
              <a:stretch>
                <a:fillRect l="0" t="0" r="-9" b="-9"/>
              </a:stretch>
            </a:blipFill>
          </p:spPr>
        </p:sp>
      </p:grpSp>
      <p:grpSp>
        <p:nvGrpSpPr>
          <p:cNvPr name="Group 23" id="23"/>
          <p:cNvGrpSpPr/>
          <p:nvPr/>
        </p:nvGrpSpPr>
        <p:grpSpPr>
          <a:xfrm rot="0">
            <a:off x="7804404" y="3117342"/>
            <a:ext cx="891540" cy="822960"/>
            <a:chOff x="0" y="0"/>
            <a:chExt cx="1188720" cy="1097280"/>
          </a:xfrm>
        </p:grpSpPr>
        <p:sp>
          <p:nvSpPr>
            <p:cNvPr name="Freeform 24" id="24"/>
            <p:cNvSpPr/>
            <p:nvPr/>
          </p:nvSpPr>
          <p:spPr>
            <a:xfrm flipH="false" flipV="false" rot="0">
              <a:off x="0" y="0"/>
              <a:ext cx="1188720" cy="1097280"/>
            </a:xfrm>
            <a:custGeom>
              <a:avLst/>
              <a:gdLst/>
              <a:ahLst/>
              <a:cxnLst/>
              <a:rect r="r" b="b" t="t" l="l"/>
              <a:pathLst>
                <a:path h="1097280" w="1188720">
                  <a:moveTo>
                    <a:pt x="0" y="0"/>
                  </a:moveTo>
                  <a:lnTo>
                    <a:pt x="1188720" y="0"/>
                  </a:lnTo>
                  <a:lnTo>
                    <a:pt x="1188720" y="1097280"/>
                  </a:lnTo>
                  <a:lnTo>
                    <a:pt x="0" y="1097280"/>
                  </a:lnTo>
                  <a:close/>
                </a:path>
              </a:pathLst>
            </a:custGeom>
            <a:blipFill>
              <a:blip r:embed="rId4">
                <a:alphaModFix amt="0"/>
              </a:blip>
              <a:stretch>
                <a:fillRect l="-68434" t="0" r="-68434" b="0"/>
              </a:stretch>
            </a:blipFill>
          </p:spPr>
        </p:sp>
        <p:sp>
          <p:nvSpPr>
            <p:cNvPr name="TextBox 25" id="25"/>
            <p:cNvSpPr txBox="true"/>
            <p:nvPr/>
          </p:nvSpPr>
          <p:spPr>
            <a:xfrm>
              <a:off x="0" y="0"/>
              <a:ext cx="1188720" cy="1097280"/>
            </a:xfrm>
            <a:prstGeom prst="rect">
              <a:avLst/>
            </a:prstGeom>
          </p:spPr>
          <p:txBody>
            <a:bodyPr anchor="ctr" rtlCol="false" tIns="0" lIns="0" bIns="0" rIns="0"/>
            <a:lstStyle/>
            <a:p>
              <a:pPr algn="r">
                <a:lnSpc>
                  <a:spcPts val="4680"/>
                </a:lnSpc>
              </a:pPr>
              <a:r>
                <a:rPr lang="en-US" sz="3900" b="true">
                  <a:solidFill>
                    <a:srgbClr val="F9A826"/>
                  </a:solidFill>
                  <a:latin typeface="Cambria Bold"/>
                  <a:ea typeface="Cambria Bold"/>
                  <a:cs typeface="Cambria Bold"/>
                  <a:sym typeface="Cambria Bold"/>
                </a:rPr>
                <a:t>2</a:t>
              </a:r>
            </a:p>
          </p:txBody>
        </p:sp>
      </p:grpSp>
      <p:grpSp>
        <p:nvGrpSpPr>
          <p:cNvPr name="Group 26" id="26"/>
          <p:cNvGrpSpPr/>
          <p:nvPr/>
        </p:nvGrpSpPr>
        <p:grpSpPr>
          <a:xfrm rot="0">
            <a:off x="7667244" y="3803142"/>
            <a:ext cx="1165860" cy="411480"/>
            <a:chOff x="0" y="0"/>
            <a:chExt cx="1554480" cy="548640"/>
          </a:xfrm>
        </p:grpSpPr>
        <p:sp>
          <p:nvSpPr>
            <p:cNvPr name="Freeform 27" id="27"/>
            <p:cNvSpPr/>
            <p:nvPr/>
          </p:nvSpPr>
          <p:spPr>
            <a:xfrm flipH="false" flipV="false" rot="0">
              <a:off x="0" y="0"/>
              <a:ext cx="1554480" cy="548640"/>
            </a:xfrm>
            <a:custGeom>
              <a:avLst/>
              <a:gdLst/>
              <a:ahLst/>
              <a:cxnLst/>
              <a:rect r="r" b="b" t="t" l="l"/>
              <a:pathLst>
                <a:path h="548640" w="1554480">
                  <a:moveTo>
                    <a:pt x="0" y="0"/>
                  </a:moveTo>
                  <a:lnTo>
                    <a:pt x="1554480" y="0"/>
                  </a:lnTo>
                  <a:lnTo>
                    <a:pt x="1554480" y="548640"/>
                  </a:lnTo>
                  <a:lnTo>
                    <a:pt x="0" y="548640"/>
                  </a:lnTo>
                  <a:close/>
                </a:path>
              </a:pathLst>
            </a:custGeom>
            <a:blipFill>
              <a:blip r:embed="rId4">
                <a:alphaModFix amt="0"/>
              </a:blip>
              <a:stretch>
                <a:fillRect l="0" t="-5207" r="0" b="-5207"/>
              </a:stretch>
            </a:blipFill>
          </p:spPr>
        </p:sp>
        <p:sp>
          <p:nvSpPr>
            <p:cNvPr name="TextBox 28" id="28"/>
            <p:cNvSpPr txBox="true"/>
            <p:nvPr/>
          </p:nvSpPr>
          <p:spPr>
            <a:xfrm>
              <a:off x="0" y="-28575"/>
              <a:ext cx="1554480" cy="577215"/>
            </a:xfrm>
            <a:prstGeom prst="rect">
              <a:avLst/>
            </a:prstGeom>
          </p:spPr>
          <p:txBody>
            <a:bodyPr anchor="ctr" rtlCol="false" tIns="0" lIns="0" bIns="0" rIns="0"/>
            <a:lstStyle/>
            <a:p>
              <a:pPr algn="r">
                <a:lnSpc>
                  <a:spcPts val="1620"/>
                </a:lnSpc>
              </a:pPr>
              <a:r>
                <a:rPr lang="en-US" sz="1350">
                  <a:solidFill>
                    <a:srgbClr val="5B7A8C"/>
                  </a:solidFill>
                  <a:latin typeface="Calibri (MS)"/>
                  <a:ea typeface="Calibri (MS)"/>
                  <a:cs typeface="Calibri (MS)"/>
                  <a:sym typeface="Calibri (MS)"/>
                </a:rPr>
                <a:t>archivos</a:t>
              </a:r>
            </a:p>
          </p:txBody>
        </p:sp>
      </p:grpSp>
      <p:grpSp>
        <p:nvGrpSpPr>
          <p:cNvPr name="Group 29" id="29"/>
          <p:cNvGrpSpPr/>
          <p:nvPr/>
        </p:nvGrpSpPr>
        <p:grpSpPr>
          <a:xfrm rot="0">
            <a:off x="5362956" y="4255770"/>
            <a:ext cx="3305556" cy="1028700"/>
            <a:chOff x="0" y="0"/>
            <a:chExt cx="4407408" cy="1371600"/>
          </a:xfrm>
        </p:grpSpPr>
        <p:sp>
          <p:nvSpPr>
            <p:cNvPr name="Freeform 30" id="30"/>
            <p:cNvSpPr/>
            <p:nvPr/>
          </p:nvSpPr>
          <p:spPr>
            <a:xfrm flipH="false" flipV="false" rot="0">
              <a:off x="0" y="0"/>
              <a:ext cx="4407408" cy="1371600"/>
            </a:xfrm>
            <a:custGeom>
              <a:avLst/>
              <a:gdLst/>
              <a:ahLst/>
              <a:cxnLst/>
              <a:rect r="r" b="b" t="t" l="l"/>
              <a:pathLst>
                <a:path h="1371600" w="4407408">
                  <a:moveTo>
                    <a:pt x="0" y="0"/>
                  </a:moveTo>
                  <a:lnTo>
                    <a:pt x="4407408" y="0"/>
                  </a:lnTo>
                  <a:lnTo>
                    <a:pt x="4407408" y="1371600"/>
                  </a:lnTo>
                  <a:lnTo>
                    <a:pt x="0" y="1371600"/>
                  </a:lnTo>
                  <a:close/>
                </a:path>
              </a:pathLst>
            </a:custGeom>
            <a:blipFill>
              <a:blip r:embed="rId4">
                <a:alphaModFix amt="0"/>
              </a:blip>
              <a:stretch>
                <a:fillRect l="0" t="-12611" r="0" b="-12611"/>
              </a:stretch>
            </a:blipFill>
          </p:spPr>
        </p:sp>
        <p:sp>
          <p:nvSpPr>
            <p:cNvPr name="TextBox 31" id="31"/>
            <p:cNvSpPr txBox="true"/>
            <p:nvPr/>
          </p:nvSpPr>
          <p:spPr>
            <a:xfrm>
              <a:off x="0" y="-19050"/>
              <a:ext cx="4407408" cy="1390650"/>
            </a:xfrm>
            <a:prstGeom prst="rect">
              <a:avLst/>
            </a:prstGeom>
          </p:spPr>
          <p:txBody>
            <a:bodyPr anchor="ctr" rtlCol="false" tIns="0" lIns="0" bIns="0" rIns="0"/>
            <a:lstStyle/>
            <a:p>
              <a:pPr algn="l">
                <a:lnSpc>
                  <a:spcPts val="2700"/>
                </a:lnSpc>
              </a:pPr>
              <a:r>
                <a:rPr lang="en-US" sz="2250" b="true">
                  <a:solidFill>
                    <a:srgbClr val="0B3954"/>
                  </a:solidFill>
                  <a:latin typeface="Cambria Bold"/>
                  <a:ea typeface="Cambria Bold"/>
                  <a:cs typeface="Cambria Bold"/>
                  <a:sym typeface="Cambria Bold"/>
                </a:rPr>
                <a:t>INEC</a:t>
              </a:r>
            </a:p>
          </p:txBody>
        </p:sp>
      </p:grpSp>
      <p:grpSp>
        <p:nvGrpSpPr>
          <p:cNvPr name="Group 32" id="32"/>
          <p:cNvGrpSpPr/>
          <p:nvPr/>
        </p:nvGrpSpPr>
        <p:grpSpPr>
          <a:xfrm rot="0">
            <a:off x="9299448" y="2815590"/>
            <a:ext cx="3909060" cy="5966460"/>
            <a:chOff x="0" y="0"/>
            <a:chExt cx="5212080" cy="7955280"/>
          </a:xfrm>
        </p:grpSpPr>
        <p:sp>
          <p:nvSpPr>
            <p:cNvPr name="Freeform 33" id="33"/>
            <p:cNvSpPr/>
            <p:nvPr/>
          </p:nvSpPr>
          <p:spPr>
            <a:xfrm flipH="false" flipV="false" rot="0">
              <a:off x="0" y="0"/>
              <a:ext cx="5212080" cy="7955280"/>
            </a:xfrm>
            <a:custGeom>
              <a:avLst/>
              <a:gdLst/>
              <a:ahLst/>
              <a:cxnLst/>
              <a:rect r="r" b="b" t="t" l="l"/>
              <a:pathLst>
                <a:path h="7955280" w="5212080">
                  <a:moveTo>
                    <a:pt x="0" y="182880"/>
                  </a:moveTo>
                  <a:cubicBezTo>
                    <a:pt x="0" y="81915"/>
                    <a:pt x="81915" y="0"/>
                    <a:pt x="182880" y="0"/>
                  </a:cubicBezTo>
                  <a:lnTo>
                    <a:pt x="5029200" y="0"/>
                  </a:lnTo>
                  <a:cubicBezTo>
                    <a:pt x="5130165" y="0"/>
                    <a:pt x="5212080" y="81915"/>
                    <a:pt x="5212080" y="182880"/>
                  </a:cubicBezTo>
                  <a:lnTo>
                    <a:pt x="5212080" y="7772400"/>
                  </a:lnTo>
                  <a:cubicBezTo>
                    <a:pt x="5212080" y="7873365"/>
                    <a:pt x="5130165" y="7955280"/>
                    <a:pt x="5029200" y="7955280"/>
                  </a:cubicBezTo>
                  <a:lnTo>
                    <a:pt x="182880" y="7955280"/>
                  </a:lnTo>
                  <a:cubicBezTo>
                    <a:pt x="81915" y="7955280"/>
                    <a:pt x="0" y="7873365"/>
                    <a:pt x="0" y="7772400"/>
                  </a:cubicBezTo>
                  <a:close/>
                </a:path>
              </a:pathLst>
            </a:custGeom>
            <a:solidFill>
              <a:srgbClr val="FFFFFF"/>
            </a:solidFill>
          </p:spPr>
        </p:sp>
      </p:grpSp>
      <p:grpSp>
        <p:nvGrpSpPr>
          <p:cNvPr name="Group 34" id="34"/>
          <p:cNvGrpSpPr/>
          <p:nvPr/>
        </p:nvGrpSpPr>
        <p:grpSpPr>
          <a:xfrm rot="0">
            <a:off x="9628632" y="3199638"/>
            <a:ext cx="850392" cy="850392"/>
            <a:chOff x="0" y="0"/>
            <a:chExt cx="1133856" cy="1133856"/>
          </a:xfrm>
        </p:grpSpPr>
        <p:sp>
          <p:nvSpPr>
            <p:cNvPr name="Freeform 35" id="35"/>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8C5A1E"/>
            </a:solidFill>
          </p:spPr>
        </p:sp>
      </p:grpSp>
      <p:grpSp>
        <p:nvGrpSpPr>
          <p:cNvPr name="Group 36" id="36"/>
          <p:cNvGrpSpPr/>
          <p:nvPr/>
        </p:nvGrpSpPr>
        <p:grpSpPr>
          <a:xfrm rot="0">
            <a:off x="9849736" y="3420742"/>
            <a:ext cx="408184" cy="408184"/>
            <a:chOff x="0" y="0"/>
            <a:chExt cx="544246" cy="544246"/>
          </a:xfrm>
        </p:grpSpPr>
        <p:sp>
          <p:nvSpPr>
            <p:cNvPr name="Freeform 37" id="37" descr="icons/briefcase_white.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6"/>
              <a:stretch>
                <a:fillRect l="0" t="0" r="-9" b="-9"/>
              </a:stretch>
            </a:blipFill>
          </p:spPr>
        </p:sp>
      </p:grpSp>
      <p:grpSp>
        <p:nvGrpSpPr>
          <p:cNvPr name="Group 38" id="38"/>
          <p:cNvGrpSpPr/>
          <p:nvPr/>
        </p:nvGrpSpPr>
        <p:grpSpPr>
          <a:xfrm rot="0">
            <a:off x="12042648" y="3117342"/>
            <a:ext cx="891540" cy="822960"/>
            <a:chOff x="0" y="0"/>
            <a:chExt cx="1188720" cy="1097280"/>
          </a:xfrm>
        </p:grpSpPr>
        <p:sp>
          <p:nvSpPr>
            <p:cNvPr name="Freeform 39" id="39"/>
            <p:cNvSpPr/>
            <p:nvPr/>
          </p:nvSpPr>
          <p:spPr>
            <a:xfrm flipH="false" flipV="false" rot="0">
              <a:off x="0" y="0"/>
              <a:ext cx="1188720" cy="1097280"/>
            </a:xfrm>
            <a:custGeom>
              <a:avLst/>
              <a:gdLst/>
              <a:ahLst/>
              <a:cxnLst/>
              <a:rect r="r" b="b" t="t" l="l"/>
              <a:pathLst>
                <a:path h="1097280" w="1188720">
                  <a:moveTo>
                    <a:pt x="0" y="0"/>
                  </a:moveTo>
                  <a:lnTo>
                    <a:pt x="1188720" y="0"/>
                  </a:lnTo>
                  <a:lnTo>
                    <a:pt x="1188720" y="1097280"/>
                  </a:lnTo>
                  <a:lnTo>
                    <a:pt x="0" y="1097280"/>
                  </a:lnTo>
                  <a:close/>
                </a:path>
              </a:pathLst>
            </a:custGeom>
            <a:blipFill>
              <a:blip r:embed="rId4">
                <a:alphaModFix amt="0"/>
              </a:blip>
              <a:stretch>
                <a:fillRect l="-68434" t="0" r="-68434" b="0"/>
              </a:stretch>
            </a:blipFill>
          </p:spPr>
        </p:sp>
        <p:sp>
          <p:nvSpPr>
            <p:cNvPr name="TextBox 40" id="40"/>
            <p:cNvSpPr txBox="true"/>
            <p:nvPr/>
          </p:nvSpPr>
          <p:spPr>
            <a:xfrm>
              <a:off x="0" y="0"/>
              <a:ext cx="1188720" cy="1097280"/>
            </a:xfrm>
            <a:prstGeom prst="rect">
              <a:avLst/>
            </a:prstGeom>
          </p:spPr>
          <p:txBody>
            <a:bodyPr anchor="ctr" rtlCol="false" tIns="0" lIns="0" bIns="0" rIns="0"/>
            <a:lstStyle/>
            <a:p>
              <a:pPr algn="r">
                <a:lnSpc>
                  <a:spcPts val="4680"/>
                </a:lnSpc>
              </a:pPr>
              <a:r>
                <a:rPr lang="en-US" sz="3900" b="true">
                  <a:solidFill>
                    <a:srgbClr val="8C5A1E"/>
                  </a:solidFill>
                  <a:latin typeface="Cambria Bold"/>
                  <a:ea typeface="Cambria Bold"/>
                  <a:cs typeface="Cambria Bold"/>
                  <a:sym typeface="Cambria Bold"/>
                </a:rPr>
                <a:t>2</a:t>
              </a:r>
            </a:p>
          </p:txBody>
        </p:sp>
      </p:grpSp>
      <p:grpSp>
        <p:nvGrpSpPr>
          <p:cNvPr name="Group 41" id="41"/>
          <p:cNvGrpSpPr/>
          <p:nvPr/>
        </p:nvGrpSpPr>
        <p:grpSpPr>
          <a:xfrm rot="0">
            <a:off x="11905488" y="3803142"/>
            <a:ext cx="1165860" cy="411480"/>
            <a:chOff x="0" y="0"/>
            <a:chExt cx="1554480" cy="548640"/>
          </a:xfrm>
        </p:grpSpPr>
        <p:sp>
          <p:nvSpPr>
            <p:cNvPr name="Freeform 42" id="42"/>
            <p:cNvSpPr/>
            <p:nvPr/>
          </p:nvSpPr>
          <p:spPr>
            <a:xfrm flipH="false" flipV="false" rot="0">
              <a:off x="0" y="0"/>
              <a:ext cx="1554480" cy="548640"/>
            </a:xfrm>
            <a:custGeom>
              <a:avLst/>
              <a:gdLst/>
              <a:ahLst/>
              <a:cxnLst/>
              <a:rect r="r" b="b" t="t" l="l"/>
              <a:pathLst>
                <a:path h="548640" w="1554480">
                  <a:moveTo>
                    <a:pt x="0" y="0"/>
                  </a:moveTo>
                  <a:lnTo>
                    <a:pt x="1554480" y="0"/>
                  </a:lnTo>
                  <a:lnTo>
                    <a:pt x="1554480" y="548640"/>
                  </a:lnTo>
                  <a:lnTo>
                    <a:pt x="0" y="548640"/>
                  </a:lnTo>
                  <a:close/>
                </a:path>
              </a:pathLst>
            </a:custGeom>
            <a:blipFill>
              <a:blip r:embed="rId4">
                <a:alphaModFix amt="0"/>
              </a:blip>
              <a:stretch>
                <a:fillRect l="0" t="-5207" r="0" b="-5207"/>
              </a:stretch>
            </a:blipFill>
          </p:spPr>
        </p:sp>
        <p:sp>
          <p:nvSpPr>
            <p:cNvPr name="TextBox 43" id="43"/>
            <p:cNvSpPr txBox="true"/>
            <p:nvPr/>
          </p:nvSpPr>
          <p:spPr>
            <a:xfrm>
              <a:off x="0" y="-28575"/>
              <a:ext cx="1554480" cy="577215"/>
            </a:xfrm>
            <a:prstGeom prst="rect">
              <a:avLst/>
            </a:prstGeom>
          </p:spPr>
          <p:txBody>
            <a:bodyPr anchor="ctr" rtlCol="false" tIns="0" lIns="0" bIns="0" rIns="0"/>
            <a:lstStyle/>
            <a:p>
              <a:pPr algn="r">
                <a:lnSpc>
                  <a:spcPts val="1620"/>
                </a:lnSpc>
              </a:pPr>
              <a:r>
                <a:rPr lang="en-US" sz="1350">
                  <a:solidFill>
                    <a:srgbClr val="5B7A8C"/>
                  </a:solidFill>
                  <a:latin typeface="Calibri (MS)"/>
                  <a:ea typeface="Calibri (MS)"/>
                  <a:cs typeface="Calibri (MS)"/>
                  <a:sym typeface="Calibri (MS)"/>
                </a:rPr>
                <a:t>archivos</a:t>
              </a:r>
            </a:p>
          </p:txBody>
        </p:sp>
      </p:grpSp>
      <p:grpSp>
        <p:nvGrpSpPr>
          <p:cNvPr name="Group 44" id="44"/>
          <p:cNvGrpSpPr/>
          <p:nvPr/>
        </p:nvGrpSpPr>
        <p:grpSpPr>
          <a:xfrm rot="0">
            <a:off x="9601200" y="4255770"/>
            <a:ext cx="3305556" cy="1028700"/>
            <a:chOff x="0" y="0"/>
            <a:chExt cx="4407408" cy="1371600"/>
          </a:xfrm>
        </p:grpSpPr>
        <p:sp>
          <p:nvSpPr>
            <p:cNvPr name="Freeform 45" id="45"/>
            <p:cNvSpPr/>
            <p:nvPr/>
          </p:nvSpPr>
          <p:spPr>
            <a:xfrm flipH="false" flipV="false" rot="0">
              <a:off x="0" y="0"/>
              <a:ext cx="4407408" cy="1371600"/>
            </a:xfrm>
            <a:custGeom>
              <a:avLst/>
              <a:gdLst/>
              <a:ahLst/>
              <a:cxnLst/>
              <a:rect r="r" b="b" t="t" l="l"/>
              <a:pathLst>
                <a:path h="1371600" w="4407408">
                  <a:moveTo>
                    <a:pt x="0" y="0"/>
                  </a:moveTo>
                  <a:lnTo>
                    <a:pt x="4407408" y="0"/>
                  </a:lnTo>
                  <a:lnTo>
                    <a:pt x="4407408" y="1371600"/>
                  </a:lnTo>
                  <a:lnTo>
                    <a:pt x="0" y="1371600"/>
                  </a:lnTo>
                  <a:close/>
                </a:path>
              </a:pathLst>
            </a:custGeom>
            <a:blipFill>
              <a:blip r:embed="rId4">
                <a:alphaModFix amt="0"/>
              </a:blip>
              <a:stretch>
                <a:fillRect l="0" t="-12611" r="0" b="-12611"/>
              </a:stretch>
            </a:blipFill>
          </p:spPr>
        </p:sp>
        <p:sp>
          <p:nvSpPr>
            <p:cNvPr name="TextBox 46" id="46"/>
            <p:cNvSpPr txBox="true"/>
            <p:nvPr/>
          </p:nvSpPr>
          <p:spPr>
            <a:xfrm>
              <a:off x="0" y="-19050"/>
              <a:ext cx="4407408" cy="1390650"/>
            </a:xfrm>
            <a:prstGeom prst="rect">
              <a:avLst/>
            </a:prstGeom>
          </p:spPr>
          <p:txBody>
            <a:bodyPr anchor="ctr" rtlCol="false" tIns="0" lIns="0" bIns="0" rIns="0"/>
            <a:lstStyle/>
            <a:p>
              <a:pPr algn="l">
                <a:lnSpc>
                  <a:spcPts val="2700"/>
                </a:lnSpc>
              </a:pPr>
              <a:r>
                <a:rPr lang="en-US" sz="2250" b="true">
                  <a:solidFill>
                    <a:srgbClr val="0B3954"/>
                  </a:solidFill>
                  <a:latin typeface="Cambria Bold"/>
                  <a:ea typeface="Cambria Bold"/>
                  <a:cs typeface="Cambria Bold"/>
                  <a:sym typeface="Cambria Bold"/>
                </a:rPr>
                <a:t>Superintendencia de Compañías</a:t>
              </a:r>
            </a:p>
          </p:txBody>
        </p:sp>
      </p:grpSp>
      <p:grpSp>
        <p:nvGrpSpPr>
          <p:cNvPr name="Group 47" id="47"/>
          <p:cNvGrpSpPr/>
          <p:nvPr/>
        </p:nvGrpSpPr>
        <p:grpSpPr>
          <a:xfrm rot="0">
            <a:off x="13537692" y="2815590"/>
            <a:ext cx="3909060" cy="5966460"/>
            <a:chOff x="0" y="0"/>
            <a:chExt cx="5212080" cy="7955280"/>
          </a:xfrm>
        </p:grpSpPr>
        <p:sp>
          <p:nvSpPr>
            <p:cNvPr name="Freeform 48" id="48"/>
            <p:cNvSpPr/>
            <p:nvPr/>
          </p:nvSpPr>
          <p:spPr>
            <a:xfrm flipH="false" flipV="false" rot="0">
              <a:off x="0" y="0"/>
              <a:ext cx="5212080" cy="7955280"/>
            </a:xfrm>
            <a:custGeom>
              <a:avLst/>
              <a:gdLst/>
              <a:ahLst/>
              <a:cxnLst/>
              <a:rect r="r" b="b" t="t" l="l"/>
              <a:pathLst>
                <a:path h="7955280" w="5212080">
                  <a:moveTo>
                    <a:pt x="0" y="182880"/>
                  </a:moveTo>
                  <a:cubicBezTo>
                    <a:pt x="0" y="81915"/>
                    <a:pt x="81915" y="0"/>
                    <a:pt x="182880" y="0"/>
                  </a:cubicBezTo>
                  <a:lnTo>
                    <a:pt x="5029200" y="0"/>
                  </a:lnTo>
                  <a:cubicBezTo>
                    <a:pt x="5130165" y="0"/>
                    <a:pt x="5212080" y="81915"/>
                    <a:pt x="5212080" y="182880"/>
                  </a:cubicBezTo>
                  <a:lnTo>
                    <a:pt x="5212080" y="7772400"/>
                  </a:lnTo>
                  <a:cubicBezTo>
                    <a:pt x="5212080" y="7873365"/>
                    <a:pt x="5130165" y="7955280"/>
                    <a:pt x="5029200" y="7955280"/>
                  </a:cubicBezTo>
                  <a:lnTo>
                    <a:pt x="182880" y="7955280"/>
                  </a:lnTo>
                  <a:cubicBezTo>
                    <a:pt x="81915" y="7955280"/>
                    <a:pt x="0" y="7873365"/>
                    <a:pt x="0" y="7772400"/>
                  </a:cubicBezTo>
                  <a:close/>
                </a:path>
              </a:pathLst>
            </a:custGeom>
            <a:solidFill>
              <a:srgbClr val="FFFFFF"/>
            </a:solidFill>
          </p:spPr>
        </p:sp>
      </p:grpSp>
      <p:grpSp>
        <p:nvGrpSpPr>
          <p:cNvPr name="Group 49" id="49"/>
          <p:cNvGrpSpPr/>
          <p:nvPr/>
        </p:nvGrpSpPr>
        <p:grpSpPr>
          <a:xfrm rot="0">
            <a:off x="13866876" y="3199638"/>
            <a:ext cx="850392" cy="850392"/>
            <a:chOff x="0" y="0"/>
            <a:chExt cx="1133856" cy="1133856"/>
          </a:xfrm>
        </p:grpSpPr>
        <p:sp>
          <p:nvSpPr>
            <p:cNvPr name="Freeform 50" id="50"/>
            <p:cNvSpPr/>
            <p:nvPr/>
          </p:nvSpPr>
          <p:spPr>
            <a:xfrm flipH="false" flipV="false" rot="0">
              <a:off x="0" y="0"/>
              <a:ext cx="1133856" cy="1133856"/>
            </a:xfrm>
            <a:custGeom>
              <a:avLst/>
              <a:gdLst/>
              <a:ahLst/>
              <a:cxnLst/>
              <a:rect r="r" b="b" t="t" l="l"/>
              <a:pathLst>
                <a:path h="1133856" w="1133856">
                  <a:moveTo>
                    <a:pt x="0" y="566928"/>
                  </a:moveTo>
                  <a:cubicBezTo>
                    <a:pt x="0" y="253873"/>
                    <a:pt x="253873" y="0"/>
                    <a:pt x="566928" y="0"/>
                  </a:cubicBezTo>
                  <a:cubicBezTo>
                    <a:pt x="879983" y="0"/>
                    <a:pt x="1133856" y="253873"/>
                    <a:pt x="1133856" y="566928"/>
                  </a:cubicBezTo>
                  <a:cubicBezTo>
                    <a:pt x="1133856" y="879983"/>
                    <a:pt x="879983" y="1133856"/>
                    <a:pt x="566928" y="1133856"/>
                  </a:cubicBezTo>
                  <a:cubicBezTo>
                    <a:pt x="253873" y="1133856"/>
                    <a:pt x="0" y="879983"/>
                    <a:pt x="0" y="566928"/>
                  </a:cubicBezTo>
                  <a:close/>
                </a:path>
              </a:pathLst>
            </a:custGeom>
            <a:solidFill>
              <a:srgbClr val="0B3954"/>
            </a:solidFill>
          </p:spPr>
        </p:sp>
      </p:grpSp>
      <p:grpSp>
        <p:nvGrpSpPr>
          <p:cNvPr name="Group 51" id="51"/>
          <p:cNvGrpSpPr/>
          <p:nvPr/>
        </p:nvGrpSpPr>
        <p:grpSpPr>
          <a:xfrm rot="0">
            <a:off x="14087980" y="3420742"/>
            <a:ext cx="408184" cy="408184"/>
            <a:chOff x="0" y="0"/>
            <a:chExt cx="544246" cy="544246"/>
          </a:xfrm>
        </p:grpSpPr>
        <p:sp>
          <p:nvSpPr>
            <p:cNvPr name="Freeform 52" id="52" descr="icons/grad_white.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7"/>
              <a:stretch>
                <a:fillRect l="0" t="0" r="-9" b="-9"/>
              </a:stretch>
            </a:blipFill>
          </p:spPr>
        </p:sp>
      </p:grpSp>
      <p:grpSp>
        <p:nvGrpSpPr>
          <p:cNvPr name="Group 53" id="53"/>
          <p:cNvGrpSpPr/>
          <p:nvPr/>
        </p:nvGrpSpPr>
        <p:grpSpPr>
          <a:xfrm rot="0">
            <a:off x="16280892" y="3117342"/>
            <a:ext cx="891540" cy="822960"/>
            <a:chOff x="0" y="0"/>
            <a:chExt cx="1188720" cy="1097280"/>
          </a:xfrm>
        </p:grpSpPr>
        <p:sp>
          <p:nvSpPr>
            <p:cNvPr name="Freeform 54" id="54"/>
            <p:cNvSpPr/>
            <p:nvPr/>
          </p:nvSpPr>
          <p:spPr>
            <a:xfrm flipH="false" flipV="false" rot="0">
              <a:off x="0" y="0"/>
              <a:ext cx="1188720" cy="1097280"/>
            </a:xfrm>
            <a:custGeom>
              <a:avLst/>
              <a:gdLst/>
              <a:ahLst/>
              <a:cxnLst/>
              <a:rect r="r" b="b" t="t" l="l"/>
              <a:pathLst>
                <a:path h="1097280" w="1188720">
                  <a:moveTo>
                    <a:pt x="0" y="0"/>
                  </a:moveTo>
                  <a:lnTo>
                    <a:pt x="1188720" y="0"/>
                  </a:lnTo>
                  <a:lnTo>
                    <a:pt x="1188720" y="1097280"/>
                  </a:lnTo>
                  <a:lnTo>
                    <a:pt x="0" y="1097280"/>
                  </a:lnTo>
                  <a:close/>
                </a:path>
              </a:pathLst>
            </a:custGeom>
            <a:blipFill>
              <a:blip r:embed="rId4">
                <a:alphaModFix amt="0"/>
              </a:blip>
              <a:stretch>
                <a:fillRect l="-68434" t="0" r="-68434" b="0"/>
              </a:stretch>
            </a:blipFill>
          </p:spPr>
        </p:sp>
        <p:sp>
          <p:nvSpPr>
            <p:cNvPr name="TextBox 55" id="55"/>
            <p:cNvSpPr txBox="true"/>
            <p:nvPr/>
          </p:nvSpPr>
          <p:spPr>
            <a:xfrm>
              <a:off x="0" y="0"/>
              <a:ext cx="1188720" cy="1097280"/>
            </a:xfrm>
            <a:prstGeom prst="rect">
              <a:avLst/>
            </a:prstGeom>
          </p:spPr>
          <p:txBody>
            <a:bodyPr anchor="ctr" rtlCol="false" tIns="0" lIns="0" bIns="0" rIns="0"/>
            <a:lstStyle/>
            <a:p>
              <a:pPr algn="r">
                <a:lnSpc>
                  <a:spcPts val="4680"/>
                </a:lnSpc>
              </a:pPr>
              <a:r>
                <a:rPr lang="en-US" sz="3900" b="true">
                  <a:solidFill>
                    <a:srgbClr val="0B3954"/>
                  </a:solidFill>
                  <a:latin typeface="Cambria Bold"/>
                  <a:ea typeface="Cambria Bold"/>
                  <a:cs typeface="Cambria Bold"/>
                  <a:sym typeface="Cambria Bold"/>
                </a:rPr>
                <a:t>1</a:t>
              </a:r>
            </a:p>
          </p:txBody>
        </p:sp>
      </p:grpSp>
      <p:grpSp>
        <p:nvGrpSpPr>
          <p:cNvPr name="Group 56" id="56"/>
          <p:cNvGrpSpPr/>
          <p:nvPr/>
        </p:nvGrpSpPr>
        <p:grpSpPr>
          <a:xfrm rot="0">
            <a:off x="16143732" y="3803142"/>
            <a:ext cx="1165860" cy="411480"/>
            <a:chOff x="0" y="0"/>
            <a:chExt cx="1554480" cy="548640"/>
          </a:xfrm>
        </p:grpSpPr>
        <p:sp>
          <p:nvSpPr>
            <p:cNvPr name="Freeform 57" id="57"/>
            <p:cNvSpPr/>
            <p:nvPr/>
          </p:nvSpPr>
          <p:spPr>
            <a:xfrm flipH="false" flipV="false" rot="0">
              <a:off x="0" y="0"/>
              <a:ext cx="1554480" cy="548640"/>
            </a:xfrm>
            <a:custGeom>
              <a:avLst/>
              <a:gdLst/>
              <a:ahLst/>
              <a:cxnLst/>
              <a:rect r="r" b="b" t="t" l="l"/>
              <a:pathLst>
                <a:path h="548640" w="1554480">
                  <a:moveTo>
                    <a:pt x="0" y="0"/>
                  </a:moveTo>
                  <a:lnTo>
                    <a:pt x="1554480" y="0"/>
                  </a:lnTo>
                  <a:lnTo>
                    <a:pt x="1554480" y="548640"/>
                  </a:lnTo>
                  <a:lnTo>
                    <a:pt x="0" y="548640"/>
                  </a:lnTo>
                  <a:close/>
                </a:path>
              </a:pathLst>
            </a:custGeom>
            <a:blipFill>
              <a:blip r:embed="rId4">
                <a:alphaModFix amt="0"/>
              </a:blip>
              <a:stretch>
                <a:fillRect l="0" t="-5207" r="0" b="-5207"/>
              </a:stretch>
            </a:blipFill>
          </p:spPr>
        </p:sp>
        <p:sp>
          <p:nvSpPr>
            <p:cNvPr name="TextBox 58" id="58"/>
            <p:cNvSpPr txBox="true"/>
            <p:nvPr/>
          </p:nvSpPr>
          <p:spPr>
            <a:xfrm>
              <a:off x="0" y="-28575"/>
              <a:ext cx="1554480" cy="577215"/>
            </a:xfrm>
            <a:prstGeom prst="rect">
              <a:avLst/>
            </a:prstGeom>
          </p:spPr>
          <p:txBody>
            <a:bodyPr anchor="ctr" rtlCol="false" tIns="0" lIns="0" bIns="0" rIns="0"/>
            <a:lstStyle/>
            <a:p>
              <a:pPr algn="r">
                <a:lnSpc>
                  <a:spcPts val="1620"/>
                </a:lnSpc>
              </a:pPr>
              <a:r>
                <a:rPr lang="en-US" sz="1350">
                  <a:solidFill>
                    <a:srgbClr val="5B7A8C"/>
                  </a:solidFill>
                  <a:latin typeface="Calibri (MS)"/>
                  <a:ea typeface="Calibri (MS)"/>
                  <a:cs typeface="Calibri (MS)"/>
                  <a:sym typeface="Calibri (MS)"/>
                </a:rPr>
                <a:t>archivos</a:t>
              </a:r>
            </a:p>
          </p:txBody>
        </p:sp>
      </p:grpSp>
      <p:grpSp>
        <p:nvGrpSpPr>
          <p:cNvPr name="Group 59" id="59"/>
          <p:cNvGrpSpPr/>
          <p:nvPr/>
        </p:nvGrpSpPr>
        <p:grpSpPr>
          <a:xfrm rot="0">
            <a:off x="13839444" y="4255770"/>
            <a:ext cx="3305556" cy="1028700"/>
            <a:chOff x="0" y="0"/>
            <a:chExt cx="4407408" cy="1371600"/>
          </a:xfrm>
        </p:grpSpPr>
        <p:sp>
          <p:nvSpPr>
            <p:cNvPr name="Freeform 60" id="60"/>
            <p:cNvSpPr/>
            <p:nvPr/>
          </p:nvSpPr>
          <p:spPr>
            <a:xfrm flipH="false" flipV="false" rot="0">
              <a:off x="0" y="0"/>
              <a:ext cx="4407408" cy="1371600"/>
            </a:xfrm>
            <a:custGeom>
              <a:avLst/>
              <a:gdLst/>
              <a:ahLst/>
              <a:cxnLst/>
              <a:rect r="r" b="b" t="t" l="l"/>
              <a:pathLst>
                <a:path h="1371600" w="4407408">
                  <a:moveTo>
                    <a:pt x="0" y="0"/>
                  </a:moveTo>
                  <a:lnTo>
                    <a:pt x="4407408" y="0"/>
                  </a:lnTo>
                  <a:lnTo>
                    <a:pt x="4407408" y="1371600"/>
                  </a:lnTo>
                  <a:lnTo>
                    <a:pt x="0" y="1371600"/>
                  </a:lnTo>
                  <a:close/>
                </a:path>
              </a:pathLst>
            </a:custGeom>
            <a:blipFill>
              <a:blip r:embed="rId4">
                <a:alphaModFix amt="0"/>
              </a:blip>
              <a:stretch>
                <a:fillRect l="0" t="-12611" r="0" b="-12611"/>
              </a:stretch>
            </a:blipFill>
          </p:spPr>
        </p:sp>
        <p:sp>
          <p:nvSpPr>
            <p:cNvPr name="TextBox 61" id="61"/>
            <p:cNvSpPr txBox="true"/>
            <p:nvPr/>
          </p:nvSpPr>
          <p:spPr>
            <a:xfrm>
              <a:off x="0" y="-19050"/>
              <a:ext cx="4407408" cy="1390650"/>
            </a:xfrm>
            <a:prstGeom prst="rect">
              <a:avLst/>
            </a:prstGeom>
          </p:spPr>
          <p:txBody>
            <a:bodyPr anchor="ctr" rtlCol="false" tIns="0" lIns="0" bIns="0" rIns="0"/>
            <a:lstStyle/>
            <a:p>
              <a:pPr algn="l">
                <a:lnSpc>
                  <a:spcPts val="2700"/>
                </a:lnSpc>
              </a:pPr>
              <a:r>
                <a:rPr lang="en-US" sz="2250" b="true">
                  <a:solidFill>
                    <a:srgbClr val="0B3954"/>
                  </a:solidFill>
                  <a:latin typeface="Cambria Bold"/>
                  <a:ea typeface="Cambria Bold"/>
                  <a:cs typeface="Cambria Bold"/>
                  <a:sym typeface="Cambria Bold"/>
                </a:rPr>
                <a:t>MINEDUC</a:t>
              </a:r>
            </a:p>
          </p:txBody>
        </p:sp>
      </p:grpSp>
      <p:sp>
        <p:nvSpPr>
          <p:cNvPr name="Freeform 62" id="62"/>
          <p:cNvSpPr/>
          <p:nvPr/>
        </p:nvSpPr>
        <p:spPr>
          <a:xfrm flipH="false" flipV="false" rot="0">
            <a:off x="1652033" y="5494020"/>
            <a:ext cx="1914127" cy="2469841"/>
          </a:xfrm>
          <a:custGeom>
            <a:avLst/>
            <a:gdLst/>
            <a:ahLst/>
            <a:cxnLst/>
            <a:rect r="r" b="b" t="t" l="l"/>
            <a:pathLst>
              <a:path h="2469841" w="1914127">
                <a:moveTo>
                  <a:pt x="0" y="0"/>
                </a:moveTo>
                <a:lnTo>
                  <a:pt x="1914127" y="0"/>
                </a:lnTo>
                <a:lnTo>
                  <a:pt x="1914127" y="2469841"/>
                </a:lnTo>
                <a:lnTo>
                  <a:pt x="0" y="246984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3" id="63"/>
          <p:cNvSpPr/>
          <p:nvPr/>
        </p:nvSpPr>
        <p:spPr>
          <a:xfrm flipH="false" flipV="false" rot="0">
            <a:off x="5890277" y="5494020"/>
            <a:ext cx="1914127" cy="2469841"/>
          </a:xfrm>
          <a:custGeom>
            <a:avLst/>
            <a:gdLst/>
            <a:ahLst/>
            <a:cxnLst/>
            <a:rect r="r" b="b" t="t" l="l"/>
            <a:pathLst>
              <a:path h="2469841" w="1914127">
                <a:moveTo>
                  <a:pt x="0" y="0"/>
                </a:moveTo>
                <a:lnTo>
                  <a:pt x="1914127" y="0"/>
                </a:lnTo>
                <a:lnTo>
                  <a:pt x="1914127" y="2469841"/>
                </a:lnTo>
                <a:lnTo>
                  <a:pt x="0" y="246984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4" id="64"/>
          <p:cNvSpPr/>
          <p:nvPr/>
        </p:nvSpPr>
        <p:spPr>
          <a:xfrm flipH="false" flipV="false" rot="0">
            <a:off x="10069451" y="5390726"/>
            <a:ext cx="1914127" cy="2469841"/>
          </a:xfrm>
          <a:custGeom>
            <a:avLst/>
            <a:gdLst/>
            <a:ahLst/>
            <a:cxnLst/>
            <a:rect r="r" b="b" t="t" l="l"/>
            <a:pathLst>
              <a:path h="2469841" w="1914127">
                <a:moveTo>
                  <a:pt x="0" y="0"/>
                </a:moveTo>
                <a:lnTo>
                  <a:pt x="1914127" y="0"/>
                </a:lnTo>
                <a:lnTo>
                  <a:pt x="1914127" y="2469841"/>
                </a:lnTo>
                <a:lnTo>
                  <a:pt x="0" y="246984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5" id="65"/>
          <p:cNvSpPr/>
          <p:nvPr/>
        </p:nvSpPr>
        <p:spPr>
          <a:xfrm flipH="false" flipV="false" rot="0">
            <a:off x="14303362" y="5374187"/>
            <a:ext cx="1914127" cy="2469841"/>
          </a:xfrm>
          <a:custGeom>
            <a:avLst/>
            <a:gdLst/>
            <a:ahLst/>
            <a:cxnLst/>
            <a:rect r="r" b="b" t="t" l="l"/>
            <a:pathLst>
              <a:path h="2469841" w="1914127">
                <a:moveTo>
                  <a:pt x="0" y="0"/>
                </a:moveTo>
                <a:lnTo>
                  <a:pt x="1914126" y="0"/>
                </a:lnTo>
                <a:lnTo>
                  <a:pt x="1914126" y="2469841"/>
                </a:lnTo>
                <a:lnTo>
                  <a:pt x="0" y="246984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66" id="66"/>
          <p:cNvSpPr txBox="true"/>
          <p:nvPr/>
        </p:nvSpPr>
        <p:spPr>
          <a:xfrm rot="0">
            <a:off x="1377791" y="1583588"/>
            <a:ext cx="2819721" cy="839718"/>
          </a:xfrm>
          <a:prstGeom prst="rect">
            <a:avLst/>
          </a:prstGeom>
        </p:spPr>
        <p:txBody>
          <a:bodyPr anchor="t" rtlCol="false" tIns="0" lIns="0" bIns="0" rIns="0">
            <a:spAutoFit/>
          </a:bodyPr>
          <a:lstStyle/>
          <a:p>
            <a:pPr algn="l">
              <a:lnSpc>
                <a:spcPts val="6317"/>
              </a:lnSpc>
            </a:pPr>
            <a:r>
              <a:rPr lang="en-US" sz="5400" b="true">
                <a:solidFill>
                  <a:srgbClr val="201E1D"/>
                </a:solidFill>
                <a:latin typeface="Arial Bold"/>
                <a:ea typeface="Arial Bold"/>
                <a:cs typeface="Arial Bold"/>
                <a:sym typeface="Arial Bold"/>
              </a:rPr>
              <a:t>F</a:t>
            </a:r>
            <a:r>
              <a:rPr lang="en-US" sz="5400" b="true">
                <a:solidFill>
                  <a:srgbClr val="201E1D"/>
                </a:solidFill>
                <a:latin typeface="Arial Bold"/>
                <a:ea typeface="Arial Bold"/>
                <a:cs typeface="Arial Bold"/>
                <a:sym typeface="Arial Bold"/>
              </a:rPr>
              <a:t>uentes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TextBox 2" id="2"/>
          <p:cNvSpPr txBox="true"/>
          <p:nvPr/>
        </p:nvSpPr>
        <p:spPr>
          <a:xfrm rot="0">
            <a:off x="1377791" y="1583588"/>
            <a:ext cx="9679982" cy="839718"/>
          </a:xfrm>
          <a:prstGeom prst="rect">
            <a:avLst/>
          </a:prstGeom>
        </p:spPr>
        <p:txBody>
          <a:bodyPr anchor="t" rtlCol="false" tIns="0" lIns="0" bIns="0" rIns="0">
            <a:spAutoFit/>
          </a:bodyPr>
          <a:lstStyle/>
          <a:p>
            <a:pPr algn="l">
              <a:lnSpc>
                <a:spcPts val="6317"/>
              </a:lnSpc>
            </a:pPr>
            <a:r>
              <a:rPr lang="en-US" sz="5400">
                <a:solidFill>
                  <a:srgbClr val="201E1D"/>
                </a:solidFill>
                <a:latin typeface="Arial"/>
                <a:ea typeface="Arial"/>
                <a:cs typeface="Arial"/>
                <a:sym typeface="Arial"/>
              </a:rPr>
              <a:t>Arquitectura Bronze-Silver-Gold</a:t>
            </a:r>
          </a:p>
        </p:txBody>
      </p:sp>
      <p:grpSp>
        <p:nvGrpSpPr>
          <p:cNvPr name="Group 3" id="3"/>
          <p:cNvGrpSpPr/>
          <p:nvPr/>
        </p:nvGrpSpPr>
        <p:grpSpPr>
          <a:xfrm rot="0">
            <a:off x="822960" y="3928767"/>
            <a:ext cx="2811780" cy="3497580"/>
            <a:chOff x="0" y="0"/>
            <a:chExt cx="3749040" cy="4663440"/>
          </a:xfrm>
        </p:grpSpPr>
        <p:sp>
          <p:nvSpPr>
            <p:cNvPr name="Freeform 4" id="4"/>
            <p:cNvSpPr/>
            <p:nvPr/>
          </p:nvSpPr>
          <p:spPr>
            <a:xfrm flipH="false" flipV="false" rot="0">
              <a:off x="0" y="0"/>
              <a:ext cx="3749040" cy="4663440"/>
            </a:xfrm>
            <a:custGeom>
              <a:avLst/>
              <a:gdLst/>
              <a:ahLst/>
              <a:cxnLst/>
              <a:rect r="r" b="b" t="t" l="l"/>
              <a:pathLst>
                <a:path h="4663440" w="3749040">
                  <a:moveTo>
                    <a:pt x="0" y="182880"/>
                  </a:moveTo>
                  <a:cubicBezTo>
                    <a:pt x="0" y="81915"/>
                    <a:pt x="81915" y="0"/>
                    <a:pt x="182880" y="0"/>
                  </a:cubicBezTo>
                  <a:lnTo>
                    <a:pt x="3566160" y="0"/>
                  </a:lnTo>
                  <a:cubicBezTo>
                    <a:pt x="3667125" y="0"/>
                    <a:pt x="3749040" y="81915"/>
                    <a:pt x="3749040" y="182880"/>
                  </a:cubicBezTo>
                  <a:lnTo>
                    <a:pt x="3749040" y="4480560"/>
                  </a:lnTo>
                  <a:cubicBezTo>
                    <a:pt x="3749040" y="4581525"/>
                    <a:pt x="3667125" y="4663440"/>
                    <a:pt x="3566160" y="4663440"/>
                  </a:cubicBezTo>
                  <a:lnTo>
                    <a:pt x="182880" y="4663440"/>
                  </a:lnTo>
                  <a:cubicBezTo>
                    <a:pt x="81915" y="4663440"/>
                    <a:pt x="0" y="4581525"/>
                    <a:pt x="0" y="4480560"/>
                  </a:cubicBezTo>
                  <a:close/>
                </a:path>
              </a:pathLst>
            </a:custGeom>
            <a:solidFill>
              <a:srgbClr val="FFFFFF"/>
            </a:solidFill>
          </p:spPr>
        </p:sp>
      </p:grpSp>
      <p:grpSp>
        <p:nvGrpSpPr>
          <p:cNvPr name="Group 5" id="5"/>
          <p:cNvGrpSpPr/>
          <p:nvPr/>
        </p:nvGrpSpPr>
        <p:grpSpPr>
          <a:xfrm rot="0">
            <a:off x="1735074" y="4312815"/>
            <a:ext cx="987552" cy="987552"/>
            <a:chOff x="0" y="0"/>
            <a:chExt cx="1316736" cy="1316736"/>
          </a:xfrm>
        </p:grpSpPr>
        <p:sp>
          <p:nvSpPr>
            <p:cNvPr name="Freeform 6" id="6"/>
            <p:cNvSpPr/>
            <p:nvPr/>
          </p:nvSpPr>
          <p:spPr>
            <a:xfrm flipH="false" flipV="false" rot="0">
              <a:off x="0" y="0"/>
              <a:ext cx="1316736" cy="1316736"/>
            </a:xfrm>
            <a:custGeom>
              <a:avLst/>
              <a:gdLst/>
              <a:ahLst/>
              <a:cxnLst/>
              <a:rect r="r" b="b" t="t" l="l"/>
              <a:pathLst>
                <a:path h="1316736" w="1316736">
                  <a:moveTo>
                    <a:pt x="0" y="658368"/>
                  </a:moveTo>
                  <a:cubicBezTo>
                    <a:pt x="0" y="294767"/>
                    <a:pt x="294767" y="0"/>
                    <a:pt x="658368" y="0"/>
                  </a:cubicBezTo>
                  <a:cubicBezTo>
                    <a:pt x="1021969" y="0"/>
                    <a:pt x="1316736" y="294767"/>
                    <a:pt x="1316736" y="658368"/>
                  </a:cubicBezTo>
                  <a:cubicBezTo>
                    <a:pt x="1316736" y="1021969"/>
                    <a:pt x="1021969" y="1316736"/>
                    <a:pt x="658368" y="1316736"/>
                  </a:cubicBezTo>
                  <a:cubicBezTo>
                    <a:pt x="294767" y="1316736"/>
                    <a:pt x="0" y="1021969"/>
                    <a:pt x="0" y="658368"/>
                  </a:cubicBezTo>
                  <a:close/>
                </a:path>
              </a:pathLst>
            </a:custGeom>
            <a:solidFill>
              <a:srgbClr val="5B7A8C"/>
            </a:solidFill>
          </p:spPr>
        </p:sp>
      </p:grpSp>
      <p:grpSp>
        <p:nvGrpSpPr>
          <p:cNvPr name="Group 7" id="7"/>
          <p:cNvGrpSpPr/>
          <p:nvPr/>
        </p:nvGrpSpPr>
        <p:grpSpPr>
          <a:xfrm rot="0">
            <a:off x="1991839" y="4569581"/>
            <a:ext cx="474021" cy="474021"/>
            <a:chOff x="0" y="0"/>
            <a:chExt cx="632028" cy="632028"/>
          </a:xfrm>
        </p:grpSpPr>
        <p:sp>
          <p:nvSpPr>
            <p:cNvPr name="Freeform 8" id="8" descr="icons/database_white.png"/>
            <p:cNvSpPr/>
            <p:nvPr/>
          </p:nvSpPr>
          <p:spPr>
            <a:xfrm flipH="false" flipV="false" rot="0">
              <a:off x="0" y="0"/>
              <a:ext cx="632079" cy="632079"/>
            </a:xfrm>
            <a:custGeom>
              <a:avLst/>
              <a:gdLst/>
              <a:ahLst/>
              <a:cxnLst/>
              <a:rect r="r" b="b" t="t" l="l"/>
              <a:pathLst>
                <a:path h="632079" w="632079">
                  <a:moveTo>
                    <a:pt x="0" y="0"/>
                  </a:moveTo>
                  <a:lnTo>
                    <a:pt x="632079" y="0"/>
                  </a:lnTo>
                  <a:lnTo>
                    <a:pt x="632079" y="632079"/>
                  </a:lnTo>
                  <a:lnTo>
                    <a:pt x="0" y="632079"/>
                  </a:lnTo>
                  <a:lnTo>
                    <a:pt x="0" y="0"/>
                  </a:lnTo>
                  <a:close/>
                </a:path>
              </a:pathLst>
            </a:custGeom>
            <a:blipFill>
              <a:blip r:embed="rId3"/>
              <a:stretch>
                <a:fillRect l="0" t="0" r="8" b="8"/>
              </a:stretch>
            </a:blipFill>
          </p:spPr>
        </p:sp>
      </p:grpSp>
      <p:grpSp>
        <p:nvGrpSpPr>
          <p:cNvPr name="Group 9" id="9"/>
          <p:cNvGrpSpPr/>
          <p:nvPr/>
        </p:nvGrpSpPr>
        <p:grpSpPr>
          <a:xfrm rot="0">
            <a:off x="891540" y="5464959"/>
            <a:ext cx="2674620" cy="548640"/>
            <a:chOff x="0" y="0"/>
            <a:chExt cx="3566160" cy="731520"/>
          </a:xfrm>
        </p:grpSpPr>
        <p:sp>
          <p:nvSpPr>
            <p:cNvPr name="Freeform 10" id="10"/>
            <p:cNvSpPr/>
            <p:nvPr/>
          </p:nvSpPr>
          <p:spPr>
            <a:xfrm flipH="false" flipV="false" rot="0">
              <a:off x="0" y="0"/>
              <a:ext cx="3566160" cy="731520"/>
            </a:xfrm>
            <a:custGeom>
              <a:avLst/>
              <a:gdLst/>
              <a:ahLst/>
              <a:cxnLst/>
              <a:rect r="r" b="b" t="t" l="l"/>
              <a:pathLst>
                <a:path h="731520" w="3566160">
                  <a:moveTo>
                    <a:pt x="0" y="0"/>
                  </a:moveTo>
                  <a:lnTo>
                    <a:pt x="3566160" y="0"/>
                  </a:lnTo>
                  <a:lnTo>
                    <a:pt x="3566160" y="731520"/>
                  </a:lnTo>
                  <a:lnTo>
                    <a:pt x="0" y="731520"/>
                  </a:lnTo>
                  <a:close/>
                </a:path>
              </a:pathLst>
            </a:custGeom>
            <a:blipFill>
              <a:blip r:embed="rId4">
                <a:alphaModFix amt="0"/>
              </a:blip>
              <a:stretch>
                <a:fillRect l="0" t="-44989" r="0" b="-44989"/>
              </a:stretch>
            </a:blipFill>
          </p:spPr>
        </p:sp>
        <p:sp>
          <p:nvSpPr>
            <p:cNvPr name="TextBox 11" id="11"/>
            <p:cNvSpPr txBox="true"/>
            <p:nvPr/>
          </p:nvSpPr>
          <p:spPr>
            <a:xfrm>
              <a:off x="0" y="-19050"/>
              <a:ext cx="3566160" cy="750570"/>
            </a:xfrm>
            <a:prstGeom prst="rect">
              <a:avLst/>
            </a:prstGeom>
          </p:spPr>
          <p:txBody>
            <a:bodyPr anchor="ctr" rtlCol="false" tIns="0" lIns="0" bIns="0" rIns="0"/>
            <a:lstStyle/>
            <a:p>
              <a:pPr algn="ctr">
                <a:lnSpc>
                  <a:spcPts val="2700"/>
                </a:lnSpc>
              </a:pPr>
              <a:r>
                <a:rPr lang="en-US" sz="2250" b="true">
                  <a:solidFill>
                    <a:srgbClr val="0B3954"/>
                  </a:solidFill>
                  <a:latin typeface="Cambria Bold"/>
                  <a:ea typeface="Cambria Bold"/>
                  <a:cs typeface="Cambria Bold"/>
                  <a:sym typeface="Cambria Bold"/>
                </a:rPr>
                <a:t>FUENTES</a:t>
              </a:r>
            </a:p>
            <a:p>
              <a:pPr algn="ctr">
                <a:lnSpc>
                  <a:spcPts val="2700"/>
                </a:lnSpc>
              </a:pPr>
              <a:r>
                <a:rPr lang="en-US" sz="2250" b="true">
                  <a:solidFill>
                    <a:srgbClr val="0B3954"/>
                  </a:solidFill>
                  <a:latin typeface="Cambria Bold"/>
                  <a:ea typeface="Cambria Bold"/>
                  <a:cs typeface="Cambria Bold"/>
                  <a:sym typeface="Cambria Bold"/>
                </a:rPr>
                <a:t>PÚBLICAS</a:t>
              </a:r>
            </a:p>
          </p:txBody>
        </p:sp>
      </p:grpSp>
      <p:grpSp>
        <p:nvGrpSpPr>
          <p:cNvPr name="Group 12" id="12"/>
          <p:cNvGrpSpPr/>
          <p:nvPr/>
        </p:nvGrpSpPr>
        <p:grpSpPr>
          <a:xfrm rot="0">
            <a:off x="932688" y="6054747"/>
            <a:ext cx="2592324" cy="1234440"/>
            <a:chOff x="0" y="0"/>
            <a:chExt cx="3456432" cy="1645920"/>
          </a:xfrm>
        </p:grpSpPr>
        <p:sp>
          <p:nvSpPr>
            <p:cNvPr name="Freeform 13" id="13"/>
            <p:cNvSpPr/>
            <p:nvPr/>
          </p:nvSpPr>
          <p:spPr>
            <a:xfrm flipH="false" flipV="false" rot="0">
              <a:off x="0" y="0"/>
              <a:ext cx="3456432" cy="1645920"/>
            </a:xfrm>
            <a:custGeom>
              <a:avLst/>
              <a:gdLst/>
              <a:ahLst/>
              <a:cxnLst/>
              <a:rect r="r" b="b" t="t" l="l"/>
              <a:pathLst>
                <a:path h="1645920" w="3456432">
                  <a:moveTo>
                    <a:pt x="0" y="0"/>
                  </a:moveTo>
                  <a:lnTo>
                    <a:pt x="3456432" y="0"/>
                  </a:lnTo>
                  <a:lnTo>
                    <a:pt x="3456432" y="1645920"/>
                  </a:lnTo>
                  <a:lnTo>
                    <a:pt x="0" y="1645920"/>
                  </a:lnTo>
                  <a:close/>
                </a:path>
              </a:pathLst>
            </a:custGeom>
            <a:blipFill>
              <a:blip r:embed="rId4">
                <a:alphaModFix amt="0"/>
              </a:blip>
              <a:stretch>
                <a:fillRect l="-11096" t="0" r="-11096" b="0"/>
              </a:stretch>
            </a:blipFill>
          </p:spPr>
        </p:sp>
        <p:sp>
          <p:nvSpPr>
            <p:cNvPr name="TextBox 14" id="14"/>
            <p:cNvSpPr txBox="true"/>
            <p:nvPr/>
          </p:nvSpPr>
          <p:spPr>
            <a:xfrm>
              <a:off x="0" y="-19050"/>
              <a:ext cx="3456432" cy="1664970"/>
            </a:xfrm>
            <a:prstGeom prst="rect">
              <a:avLst/>
            </a:prstGeom>
          </p:spPr>
          <p:txBody>
            <a:bodyPr anchor="ctr" rtlCol="false" tIns="0" lIns="0" bIns="0" rIns="0"/>
            <a:lstStyle/>
            <a:p>
              <a:pPr algn="ctr">
                <a:lnSpc>
                  <a:spcPts val="1889"/>
                </a:lnSpc>
              </a:pPr>
              <a:r>
                <a:rPr lang="en-US" sz="1575">
                  <a:solidFill>
                    <a:srgbClr val="5B7A8C"/>
                  </a:solidFill>
                  <a:latin typeface="Calibri (MS)"/>
                  <a:ea typeface="Calibri (MS)"/>
                  <a:cs typeface="Calibri (MS)"/>
                  <a:sym typeface="Calibri (MS)"/>
                </a:rPr>
                <a:t>BCE · INEC ·</a:t>
              </a:r>
            </a:p>
            <a:p>
              <a:pPr algn="ctr">
                <a:lnSpc>
                  <a:spcPts val="1889"/>
                </a:lnSpc>
              </a:pPr>
              <a:r>
                <a:rPr lang="en-US" sz="1575">
                  <a:solidFill>
                    <a:srgbClr val="5B7A8C"/>
                  </a:solidFill>
                  <a:latin typeface="Calibri (MS)"/>
                  <a:ea typeface="Calibri (MS)"/>
                  <a:cs typeface="Calibri (MS)"/>
                  <a:sym typeface="Calibri (MS)"/>
                </a:rPr>
                <a:t>Supercias · MINEDUC</a:t>
              </a:r>
            </a:p>
          </p:txBody>
        </p:sp>
      </p:grpSp>
      <p:grpSp>
        <p:nvGrpSpPr>
          <p:cNvPr name="Group 15" id="15"/>
          <p:cNvGrpSpPr/>
          <p:nvPr/>
        </p:nvGrpSpPr>
        <p:grpSpPr>
          <a:xfrm rot="0">
            <a:off x="3717036" y="5485533"/>
            <a:ext cx="469773" cy="384048"/>
            <a:chOff x="0" y="0"/>
            <a:chExt cx="626364" cy="512064"/>
          </a:xfrm>
        </p:grpSpPr>
        <p:sp>
          <p:nvSpPr>
            <p:cNvPr name="Freeform 16" id="16"/>
            <p:cNvSpPr/>
            <p:nvPr/>
          </p:nvSpPr>
          <p:spPr>
            <a:xfrm flipH="false" flipV="false" rot="0">
              <a:off x="0" y="0"/>
              <a:ext cx="626364" cy="512064"/>
            </a:xfrm>
            <a:custGeom>
              <a:avLst/>
              <a:gdLst/>
              <a:ahLst/>
              <a:cxnLst/>
              <a:rect r="r" b="b" t="t" l="l"/>
              <a:pathLst>
                <a:path h="512064" w="626364">
                  <a:moveTo>
                    <a:pt x="0" y="128016"/>
                  </a:moveTo>
                  <a:lnTo>
                    <a:pt x="370332" y="128016"/>
                  </a:lnTo>
                  <a:lnTo>
                    <a:pt x="370332" y="0"/>
                  </a:lnTo>
                  <a:lnTo>
                    <a:pt x="626364" y="256032"/>
                  </a:lnTo>
                  <a:lnTo>
                    <a:pt x="370332" y="512064"/>
                  </a:lnTo>
                  <a:lnTo>
                    <a:pt x="370332" y="384048"/>
                  </a:lnTo>
                  <a:lnTo>
                    <a:pt x="0" y="384048"/>
                  </a:lnTo>
                  <a:close/>
                </a:path>
              </a:pathLst>
            </a:custGeom>
            <a:solidFill>
              <a:srgbClr val="087E8B"/>
            </a:solidFill>
          </p:spPr>
        </p:sp>
      </p:grpSp>
      <p:grpSp>
        <p:nvGrpSpPr>
          <p:cNvPr name="Group 17" id="17"/>
          <p:cNvGrpSpPr/>
          <p:nvPr/>
        </p:nvGrpSpPr>
        <p:grpSpPr>
          <a:xfrm rot="0">
            <a:off x="4269105" y="3928767"/>
            <a:ext cx="2811780" cy="3497580"/>
            <a:chOff x="0" y="0"/>
            <a:chExt cx="3749040" cy="4663440"/>
          </a:xfrm>
        </p:grpSpPr>
        <p:sp>
          <p:nvSpPr>
            <p:cNvPr name="Freeform 18" id="18"/>
            <p:cNvSpPr/>
            <p:nvPr/>
          </p:nvSpPr>
          <p:spPr>
            <a:xfrm flipH="false" flipV="false" rot="0">
              <a:off x="0" y="0"/>
              <a:ext cx="3749040" cy="4663440"/>
            </a:xfrm>
            <a:custGeom>
              <a:avLst/>
              <a:gdLst/>
              <a:ahLst/>
              <a:cxnLst/>
              <a:rect r="r" b="b" t="t" l="l"/>
              <a:pathLst>
                <a:path h="4663440" w="3749040">
                  <a:moveTo>
                    <a:pt x="0" y="182880"/>
                  </a:moveTo>
                  <a:cubicBezTo>
                    <a:pt x="0" y="81915"/>
                    <a:pt x="81915" y="0"/>
                    <a:pt x="182880" y="0"/>
                  </a:cubicBezTo>
                  <a:lnTo>
                    <a:pt x="3566160" y="0"/>
                  </a:lnTo>
                  <a:cubicBezTo>
                    <a:pt x="3667125" y="0"/>
                    <a:pt x="3749040" y="81915"/>
                    <a:pt x="3749040" y="182880"/>
                  </a:cubicBezTo>
                  <a:lnTo>
                    <a:pt x="3749040" y="4480560"/>
                  </a:lnTo>
                  <a:cubicBezTo>
                    <a:pt x="3749040" y="4581525"/>
                    <a:pt x="3667125" y="4663440"/>
                    <a:pt x="3566160" y="4663440"/>
                  </a:cubicBezTo>
                  <a:lnTo>
                    <a:pt x="182880" y="4663440"/>
                  </a:lnTo>
                  <a:cubicBezTo>
                    <a:pt x="81915" y="4663440"/>
                    <a:pt x="0" y="4581525"/>
                    <a:pt x="0" y="4480560"/>
                  </a:cubicBezTo>
                  <a:close/>
                </a:path>
              </a:pathLst>
            </a:custGeom>
            <a:solidFill>
              <a:srgbClr val="FFFFFF"/>
            </a:solidFill>
          </p:spPr>
        </p:sp>
      </p:grpSp>
      <p:grpSp>
        <p:nvGrpSpPr>
          <p:cNvPr name="Group 19" id="19"/>
          <p:cNvGrpSpPr/>
          <p:nvPr/>
        </p:nvGrpSpPr>
        <p:grpSpPr>
          <a:xfrm rot="0">
            <a:off x="5181219" y="4312815"/>
            <a:ext cx="987552" cy="987552"/>
            <a:chOff x="0" y="0"/>
            <a:chExt cx="1316736" cy="1316736"/>
          </a:xfrm>
        </p:grpSpPr>
        <p:sp>
          <p:nvSpPr>
            <p:cNvPr name="Freeform 20" id="20"/>
            <p:cNvSpPr/>
            <p:nvPr/>
          </p:nvSpPr>
          <p:spPr>
            <a:xfrm flipH="false" flipV="false" rot="0">
              <a:off x="0" y="0"/>
              <a:ext cx="1316736" cy="1316736"/>
            </a:xfrm>
            <a:custGeom>
              <a:avLst/>
              <a:gdLst/>
              <a:ahLst/>
              <a:cxnLst/>
              <a:rect r="r" b="b" t="t" l="l"/>
              <a:pathLst>
                <a:path h="1316736" w="1316736">
                  <a:moveTo>
                    <a:pt x="0" y="658368"/>
                  </a:moveTo>
                  <a:cubicBezTo>
                    <a:pt x="0" y="294767"/>
                    <a:pt x="294767" y="0"/>
                    <a:pt x="658368" y="0"/>
                  </a:cubicBezTo>
                  <a:cubicBezTo>
                    <a:pt x="1021969" y="0"/>
                    <a:pt x="1316736" y="294767"/>
                    <a:pt x="1316736" y="658368"/>
                  </a:cubicBezTo>
                  <a:cubicBezTo>
                    <a:pt x="1316736" y="1021969"/>
                    <a:pt x="1021969" y="1316736"/>
                    <a:pt x="658368" y="1316736"/>
                  </a:cubicBezTo>
                  <a:cubicBezTo>
                    <a:pt x="294767" y="1316736"/>
                    <a:pt x="0" y="1021969"/>
                    <a:pt x="0" y="658368"/>
                  </a:cubicBezTo>
                  <a:close/>
                </a:path>
              </a:pathLst>
            </a:custGeom>
            <a:solidFill>
              <a:srgbClr val="8C5A1E"/>
            </a:solidFill>
          </p:spPr>
        </p:sp>
      </p:grpSp>
      <p:grpSp>
        <p:nvGrpSpPr>
          <p:cNvPr name="Group 21" id="21"/>
          <p:cNvGrpSpPr/>
          <p:nvPr/>
        </p:nvGrpSpPr>
        <p:grpSpPr>
          <a:xfrm rot="0">
            <a:off x="5437984" y="4569581"/>
            <a:ext cx="474021" cy="474021"/>
            <a:chOff x="0" y="0"/>
            <a:chExt cx="632028" cy="632028"/>
          </a:xfrm>
        </p:grpSpPr>
        <p:sp>
          <p:nvSpPr>
            <p:cNvPr name="Freeform 22" id="22" descr="icons/boxes_white.png"/>
            <p:cNvSpPr/>
            <p:nvPr/>
          </p:nvSpPr>
          <p:spPr>
            <a:xfrm flipH="false" flipV="false" rot="0">
              <a:off x="0" y="0"/>
              <a:ext cx="632079" cy="632079"/>
            </a:xfrm>
            <a:custGeom>
              <a:avLst/>
              <a:gdLst/>
              <a:ahLst/>
              <a:cxnLst/>
              <a:rect r="r" b="b" t="t" l="l"/>
              <a:pathLst>
                <a:path h="632079" w="632079">
                  <a:moveTo>
                    <a:pt x="0" y="0"/>
                  </a:moveTo>
                  <a:lnTo>
                    <a:pt x="632079" y="0"/>
                  </a:lnTo>
                  <a:lnTo>
                    <a:pt x="632079" y="632079"/>
                  </a:lnTo>
                  <a:lnTo>
                    <a:pt x="0" y="632079"/>
                  </a:lnTo>
                  <a:lnTo>
                    <a:pt x="0" y="0"/>
                  </a:lnTo>
                  <a:close/>
                </a:path>
              </a:pathLst>
            </a:custGeom>
            <a:blipFill>
              <a:blip r:embed="rId5"/>
              <a:stretch>
                <a:fillRect l="0" t="0" r="8" b="8"/>
              </a:stretch>
            </a:blipFill>
          </p:spPr>
        </p:sp>
      </p:grpSp>
      <p:grpSp>
        <p:nvGrpSpPr>
          <p:cNvPr name="Group 23" id="23"/>
          <p:cNvGrpSpPr/>
          <p:nvPr/>
        </p:nvGrpSpPr>
        <p:grpSpPr>
          <a:xfrm rot="0">
            <a:off x="4337685" y="5464959"/>
            <a:ext cx="2674620" cy="548640"/>
            <a:chOff x="0" y="0"/>
            <a:chExt cx="3566160" cy="731520"/>
          </a:xfrm>
        </p:grpSpPr>
        <p:sp>
          <p:nvSpPr>
            <p:cNvPr name="Freeform 24" id="24"/>
            <p:cNvSpPr/>
            <p:nvPr/>
          </p:nvSpPr>
          <p:spPr>
            <a:xfrm flipH="false" flipV="false" rot="0">
              <a:off x="0" y="0"/>
              <a:ext cx="3566160" cy="731520"/>
            </a:xfrm>
            <a:custGeom>
              <a:avLst/>
              <a:gdLst/>
              <a:ahLst/>
              <a:cxnLst/>
              <a:rect r="r" b="b" t="t" l="l"/>
              <a:pathLst>
                <a:path h="731520" w="3566160">
                  <a:moveTo>
                    <a:pt x="0" y="0"/>
                  </a:moveTo>
                  <a:lnTo>
                    <a:pt x="3566160" y="0"/>
                  </a:lnTo>
                  <a:lnTo>
                    <a:pt x="3566160" y="731520"/>
                  </a:lnTo>
                  <a:lnTo>
                    <a:pt x="0" y="731520"/>
                  </a:lnTo>
                  <a:close/>
                </a:path>
              </a:pathLst>
            </a:custGeom>
            <a:blipFill>
              <a:blip r:embed="rId4">
                <a:alphaModFix amt="0"/>
              </a:blip>
              <a:stretch>
                <a:fillRect l="0" t="-44989" r="0" b="-44989"/>
              </a:stretch>
            </a:blipFill>
          </p:spPr>
        </p:sp>
        <p:sp>
          <p:nvSpPr>
            <p:cNvPr name="TextBox 25" id="25"/>
            <p:cNvSpPr txBox="true"/>
            <p:nvPr/>
          </p:nvSpPr>
          <p:spPr>
            <a:xfrm>
              <a:off x="0" y="-19050"/>
              <a:ext cx="3566160" cy="750570"/>
            </a:xfrm>
            <a:prstGeom prst="rect">
              <a:avLst/>
            </a:prstGeom>
          </p:spPr>
          <p:txBody>
            <a:bodyPr anchor="ctr" rtlCol="false" tIns="0" lIns="0" bIns="0" rIns="0"/>
            <a:lstStyle/>
            <a:p>
              <a:pPr algn="ctr">
                <a:lnSpc>
                  <a:spcPts val="2700"/>
                </a:lnSpc>
              </a:pPr>
              <a:r>
                <a:rPr lang="en-US" sz="2250" b="true">
                  <a:solidFill>
                    <a:srgbClr val="0B3954"/>
                  </a:solidFill>
                  <a:latin typeface="Cambria Bold"/>
                  <a:ea typeface="Cambria Bold"/>
                  <a:cs typeface="Cambria Bold"/>
                  <a:sym typeface="Cambria Bold"/>
                </a:rPr>
                <a:t>BRONZE</a:t>
              </a:r>
            </a:p>
          </p:txBody>
        </p:sp>
      </p:grpSp>
      <p:grpSp>
        <p:nvGrpSpPr>
          <p:cNvPr name="Group 26" id="26"/>
          <p:cNvGrpSpPr/>
          <p:nvPr/>
        </p:nvGrpSpPr>
        <p:grpSpPr>
          <a:xfrm rot="0">
            <a:off x="4378833" y="6054747"/>
            <a:ext cx="2592324" cy="1234440"/>
            <a:chOff x="0" y="0"/>
            <a:chExt cx="3456432" cy="1645920"/>
          </a:xfrm>
        </p:grpSpPr>
        <p:sp>
          <p:nvSpPr>
            <p:cNvPr name="Freeform 27" id="27"/>
            <p:cNvSpPr/>
            <p:nvPr/>
          </p:nvSpPr>
          <p:spPr>
            <a:xfrm flipH="false" flipV="false" rot="0">
              <a:off x="0" y="0"/>
              <a:ext cx="3456432" cy="1645920"/>
            </a:xfrm>
            <a:custGeom>
              <a:avLst/>
              <a:gdLst/>
              <a:ahLst/>
              <a:cxnLst/>
              <a:rect r="r" b="b" t="t" l="l"/>
              <a:pathLst>
                <a:path h="1645920" w="3456432">
                  <a:moveTo>
                    <a:pt x="0" y="0"/>
                  </a:moveTo>
                  <a:lnTo>
                    <a:pt x="3456432" y="0"/>
                  </a:lnTo>
                  <a:lnTo>
                    <a:pt x="3456432" y="1645920"/>
                  </a:lnTo>
                  <a:lnTo>
                    <a:pt x="0" y="1645920"/>
                  </a:lnTo>
                  <a:close/>
                </a:path>
              </a:pathLst>
            </a:custGeom>
            <a:blipFill>
              <a:blip r:embed="rId4">
                <a:alphaModFix amt="0"/>
              </a:blip>
              <a:stretch>
                <a:fillRect l="-11096" t="0" r="-11096" b="0"/>
              </a:stretch>
            </a:blipFill>
          </p:spPr>
        </p:sp>
        <p:sp>
          <p:nvSpPr>
            <p:cNvPr name="TextBox 28" id="28"/>
            <p:cNvSpPr txBox="true"/>
            <p:nvPr/>
          </p:nvSpPr>
          <p:spPr>
            <a:xfrm>
              <a:off x="0" y="-19050"/>
              <a:ext cx="3456432" cy="1664970"/>
            </a:xfrm>
            <a:prstGeom prst="rect">
              <a:avLst/>
            </a:prstGeom>
          </p:spPr>
          <p:txBody>
            <a:bodyPr anchor="ctr" rtlCol="false" tIns="0" lIns="0" bIns="0" rIns="0"/>
            <a:lstStyle/>
            <a:p>
              <a:pPr algn="ctr">
                <a:lnSpc>
                  <a:spcPts val="1889"/>
                </a:lnSpc>
              </a:pPr>
              <a:r>
                <a:rPr lang="en-US" sz="1575">
                  <a:solidFill>
                    <a:srgbClr val="5B7A8C"/>
                  </a:solidFill>
                  <a:latin typeface="Calibri (MS)"/>
                  <a:ea typeface="Calibri (MS)"/>
                  <a:cs typeface="Calibri (MS)"/>
                  <a:sym typeface="Calibri (MS)"/>
                </a:rPr>
                <a:t>datos_crudos/</a:t>
              </a:r>
            </a:p>
            <a:p>
              <a:pPr algn="ctr">
                <a:lnSpc>
                  <a:spcPts val="1889"/>
                </a:lnSpc>
              </a:pPr>
              <a:r>
                <a:rPr lang="en-US" sz="1575">
                  <a:solidFill>
                    <a:srgbClr val="5B7A8C"/>
                  </a:solidFill>
                  <a:latin typeface="Calibri (MS)"/>
                  <a:ea typeface="Calibri (MS)"/>
                  <a:cs typeface="Calibri (MS)"/>
                  <a:sym typeface="Calibri (MS)"/>
                </a:rPr>
                <a:t>archivos originales</a:t>
              </a:r>
            </a:p>
          </p:txBody>
        </p:sp>
      </p:grpSp>
      <p:grpSp>
        <p:nvGrpSpPr>
          <p:cNvPr name="Group 29" id="29"/>
          <p:cNvGrpSpPr/>
          <p:nvPr/>
        </p:nvGrpSpPr>
        <p:grpSpPr>
          <a:xfrm rot="0">
            <a:off x="7163181" y="5485533"/>
            <a:ext cx="469773" cy="384048"/>
            <a:chOff x="0" y="0"/>
            <a:chExt cx="626364" cy="512064"/>
          </a:xfrm>
        </p:grpSpPr>
        <p:sp>
          <p:nvSpPr>
            <p:cNvPr name="Freeform 30" id="30"/>
            <p:cNvSpPr/>
            <p:nvPr/>
          </p:nvSpPr>
          <p:spPr>
            <a:xfrm flipH="false" flipV="false" rot="0">
              <a:off x="0" y="0"/>
              <a:ext cx="626364" cy="512064"/>
            </a:xfrm>
            <a:custGeom>
              <a:avLst/>
              <a:gdLst/>
              <a:ahLst/>
              <a:cxnLst/>
              <a:rect r="r" b="b" t="t" l="l"/>
              <a:pathLst>
                <a:path h="512064" w="626364">
                  <a:moveTo>
                    <a:pt x="0" y="128016"/>
                  </a:moveTo>
                  <a:lnTo>
                    <a:pt x="370332" y="128016"/>
                  </a:lnTo>
                  <a:lnTo>
                    <a:pt x="370332" y="0"/>
                  </a:lnTo>
                  <a:lnTo>
                    <a:pt x="626364" y="256032"/>
                  </a:lnTo>
                  <a:lnTo>
                    <a:pt x="370332" y="512064"/>
                  </a:lnTo>
                  <a:lnTo>
                    <a:pt x="370332" y="384048"/>
                  </a:lnTo>
                  <a:lnTo>
                    <a:pt x="0" y="384048"/>
                  </a:lnTo>
                  <a:close/>
                </a:path>
              </a:pathLst>
            </a:custGeom>
            <a:solidFill>
              <a:srgbClr val="087E8B"/>
            </a:solidFill>
          </p:spPr>
        </p:sp>
      </p:grpSp>
      <p:grpSp>
        <p:nvGrpSpPr>
          <p:cNvPr name="Group 31" id="31"/>
          <p:cNvGrpSpPr/>
          <p:nvPr/>
        </p:nvGrpSpPr>
        <p:grpSpPr>
          <a:xfrm rot="0">
            <a:off x="7715250" y="3928767"/>
            <a:ext cx="2811780" cy="3497580"/>
            <a:chOff x="0" y="0"/>
            <a:chExt cx="3749040" cy="4663440"/>
          </a:xfrm>
        </p:grpSpPr>
        <p:sp>
          <p:nvSpPr>
            <p:cNvPr name="Freeform 32" id="32"/>
            <p:cNvSpPr/>
            <p:nvPr/>
          </p:nvSpPr>
          <p:spPr>
            <a:xfrm flipH="false" flipV="false" rot="0">
              <a:off x="0" y="0"/>
              <a:ext cx="3749040" cy="4663440"/>
            </a:xfrm>
            <a:custGeom>
              <a:avLst/>
              <a:gdLst/>
              <a:ahLst/>
              <a:cxnLst/>
              <a:rect r="r" b="b" t="t" l="l"/>
              <a:pathLst>
                <a:path h="4663440" w="3749040">
                  <a:moveTo>
                    <a:pt x="0" y="182880"/>
                  </a:moveTo>
                  <a:cubicBezTo>
                    <a:pt x="0" y="81915"/>
                    <a:pt x="81915" y="0"/>
                    <a:pt x="182880" y="0"/>
                  </a:cubicBezTo>
                  <a:lnTo>
                    <a:pt x="3566160" y="0"/>
                  </a:lnTo>
                  <a:cubicBezTo>
                    <a:pt x="3667125" y="0"/>
                    <a:pt x="3749040" y="81915"/>
                    <a:pt x="3749040" y="182880"/>
                  </a:cubicBezTo>
                  <a:lnTo>
                    <a:pt x="3749040" y="4480560"/>
                  </a:lnTo>
                  <a:cubicBezTo>
                    <a:pt x="3749040" y="4581525"/>
                    <a:pt x="3667125" y="4663440"/>
                    <a:pt x="3566160" y="4663440"/>
                  </a:cubicBezTo>
                  <a:lnTo>
                    <a:pt x="182880" y="4663440"/>
                  </a:lnTo>
                  <a:cubicBezTo>
                    <a:pt x="81915" y="4663440"/>
                    <a:pt x="0" y="4581525"/>
                    <a:pt x="0" y="4480560"/>
                  </a:cubicBezTo>
                  <a:close/>
                </a:path>
              </a:pathLst>
            </a:custGeom>
            <a:solidFill>
              <a:srgbClr val="FFFFFF"/>
            </a:solidFill>
          </p:spPr>
        </p:sp>
      </p:grpSp>
      <p:grpSp>
        <p:nvGrpSpPr>
          <p:cNvPr name="Group 33" id="33"/>
          <p:cNvGrpSpPr/>
          <p:nvPr/>
        </p:nvGrpSpPr>
        <p:grpSpPr>
          <a:xfrm rot="0">
            <a:off x="8627364" y="4312815"/>
            <a:ext cx="987552" cy="987552"/>
            <a:chOff x="0" y="0"/>
            <a:chExt cx="1316736" cy="1316736"/>
          </a:xfrm>
        </p:grpSpPr>
        <p:sp>
          <p:nvSpPr>
            <p:cNvPr name="Freeform 34" id="34"/>
            <p:cNvSpPr/>
            <p:nvPr/>
          </p:nvSpPr>
          <p:spPr>
            <a:xfrm flipH="false" flipV="false" rot="0">
              <a:off x="0" y="0"/>
              <a:ext cx="1316736" cy="1316736"/>
            </a:xfrm>
            <a:custGeom>
              <a:avLst/>
              <a:gdLst/>
              <a:ahLst/>
              <a:cxnLst/>
              <a:rect r="r" b="b" t="t" l="l"/>
              <a:pathLst>
                <a:path h="1316736" w="1316736">
                  <a:moveTo>
                    <a:pt x="0" y="658368"/>
                  </a:moveTo>
                  <a:cubicBezTo>
                    <a:pt x="0" y="294767"/>
                    <a:pt x="294767" y="0"/>
                    <a:pt x="658368" y="0"/>
                  </a:cubicBezTo>
                  <a:cubicBezTo>
                    <a:pt x="1021969" y="0"/>
                    <a:pt x="1316736" y="294767"/>
                    <a:pt x="1316736" y="658368"/>
                  </a:cubicBezTo>
                  <a:cubicBezTo>
                    <a:pt x="1316736" y="1021969"/>
                    <a:pt x="1021969" y="1316736"/>
                    <a:pt x="658368" y="1316736"/>
                  </a:cubicBezTo>
                  <a:cubicBezTo>
                    <a:pt x="294767" y="1316736"/>
                    <a:pt x="0" y="1021969"/>
                    <a:pt x="0" y="658368"/>
                  </a:cubicBezTo>
                  <a:close/>
                </a:path>
              </a:pathLst>
            </a:custGeom>
            <a:solidFill>
              <a:srgbClr val="087E8B"/>
            </a:solidFill>
          </p:spPr>
        </p:sp>
      </p:grpSp>
      <p:grpSp>
        <p:nvGrpSpPr>
          <p:cNvPr name="Group 35" id="35"/>
          <p:cNvGrpSpPr/>
          <p:nvPr/>
        </p:nvGrpSpPr>
        <p:grpSpPr>
          <a:xfrm rot="0">
            <a:off x="8884129" y="4569581"/>
            <a:ext cx="474021" cy="474021"/>
            <a:chOff x="0" y="0"/>
            <a:chExt cx="632028" cy="632028"/>
          </a:xfrm>
        </p:grpSpPr>
        <p:sp>
          <p:nvSpPr>
            <p:cNvPr name="Freeform 36" id="36" descr="icons/flask_white.png"/>
            <p:cNvSpPr/>
            <p:nvPr/>
          </p:nvSpPr>
          <p:spPr>
            <a:xfrm flipH="false" flipV="false" rot="0">
              <a:off x="0" y="0"/>
              <a:ext cx="632079" cy="632079"/>
            </a:xfrm>
            <a:custGeom>
              <a:avLst/>
              <a:gdLst/>
              <a:ahLst/>
              <a:cxnLst/>
              <a:rect r="r" b="b" t="t" l="l"/>
              <a:pathLst>
                <a:path h="632079" w="632079">
                  <a:moveTo>
                    <a:pt x="0" y="0"/>
                  </a:moveTo>
                  <a:lnTo>
                    <a:pt x="632079" y="0"/>
                  </a:lnTo>
                  <a:lnTo>
                    <a:pt x="632079" y="632079"/>
                  </a:lnTo>
                  <a:lnTo>
                    <a:pt x="0" y="632079"/>
                  </a:lnTo>
                  <a:lnTo>
                    <a:pt x="0" y="0"/>
                  </a:lnTo>
                  <a:close/>
                </a:path>
              </a:pathLst>
            </a:custGeom>
            <a:blipFill>
              <a:blip r:embed="rId6"/>
              <a:stretch>
                <a:fillRect l="0" t="0" r="8" b="8"/>
              </a:stretch>
            </a:blipFill>
          </p:spPr>
        </p:sp>
      </p:grpSp>
      <p:grpSp>
        <p:nvGrpSpPr>
          <p:cNvPr name="Group 37" id="37"/>
          <p:cNvGrpSpPr/>
          <p:nvPr/>
        </p:nvGrpSpPr>
        <p:grpSpPr>
          <a:xfrm rot="0">
            <a:off x="7783830" y="5464959"/>
            <a:ext cx="2674620" cy="548640"/>
            <a:chOff x="0" y="0"/>
            <a:chExt cx="3566160" cy="731520"/>
          </a:xfrm>
        </p:grpSpPr>
        <p:sp>
          <p:nvSpPr>
            <p:cNvPr name="Freeform 38" id="38"/>
            <p:cNvSpPr/>
            <p:nvPr/>
          </p:nvSpPr>
          <p:spPr>
            <a:xfrm flipH="false" flipV="false" rot="0">
              <a:off x="0" y="0"/>
              <a:ext cx="3566160" cy="731520"/>
            </a:xfrm>
            <a:custGeom>
              <a:avLst/>
              <a:gdLst/>
              <a:ahLst/>
              <a:cxnLst/>
              <a:rect r="r" b="b" t="t" l="l"/>
              <a:pathLst>
                <a:path h="731520" w="3566160">
                  <a:moveTo>
                    <a:pt x="0" y="0"/>
                  </a:moveTo>
                  <a:lnTo>
                    <a:pt x="3566160" y="0"/>
                  </a:lnTo>
                  <a:lnTo>
                    <a:pt x="3566160" y="731520"/>
                  </a:lnTo>
                  <a:lnTo>
                    <a:pt x="0" y="731520"/>
                  </a:lnTo>
                  <a:close/>
                </a:path>
              </a:pathLst>
            </a:custGeom>
            <a:blipFill>
              <a:blip r:embed="rId4">
                <a:alphaModFix amt="0"/>
              </a:blip>
              <a:stretch>
                <a:fillRect l="0" t="-44989" r="0" b="-44989"/>
              </a:stretch>
            </a:blipFill>
          </p:spPr>
        </p:sp>
        <p:sp>
          <p:nvSpPr>
            <p:cNvPr name="TextBox 39" id="39"/>
            <p:cNvSpPr txBox="true"/>
            <p:nvPr/>
          </p:nvSpPr>
          <p:spPr>
            <a:xfrm>
              <a:off x="0" y="-19050"/>
              <a:ext cx="3566160" cy="750570"/>
            </a:xfrm>
            <a:prstGeom prst="rect">
              <a:avLst/>
            </a:prstGeom>
          </p:spPr>
          <p:txBody>
            <a:bodyPr anchor="ctr" rtlCol="false" tIns="0" lIns="0" bIns="0" rIns="0"/>
            <a:lstStyle/>
            <a:p>
              <a:pPr algn="ctr">
                <a:lnSpc>
                  <a:spcPts val="2700"/>
                </a:lnSpc>
              </a:pPr>
              <a:r>
                <a:rPr lang="en-US" sz="2250" b="true">
                  <a:solidFill>
                    <a:srgbClr val="0B3954"/>
                  </a:solidFill>
                  <a:latin typeface="Cambria Bold"/>
                  <a:ea typeface="Cambria Bold"/>
                  <a:cs typeface="Cambria Bold"/>
                  <a:sym typeface="Cambria Bold"/>
                </a:rPr>
                <a:t>SILVER</a:t>
              </a:r>
            </a:p>
          </p:txBody>
        </p:sp>
      </p:grpSp>
      <p:grpSp>
        <p:nvGrpSpPr>
          <p:cNvPr name="Group 40" id="40"/>
          <p:cNvGrpSpPr/>
          <p:nvPr/>
        </p:nvGrpSpPr>
        <p:grpSpPr>
          <a:xfrm rot="0">
            <a:off x="7824978" y="6054747"/>
            <a:ext cx="2592324" cy="1234440"/>
            <a:chOff x="0" y="0"/>
            <a:chExt cx="3456432" cy="1645920"/>
          </a:xfrm>
        </p:grpSpPr>
        <p:sp>
          <p:nvSpPr>
            <p:cNvPr name="Freeform 41" id="41"/>
            <p:cNvSpPr/>
            <p:nvPr/>
          </p:nvSpPr>
          <p:spPr>
            <a:xfrm flipH="false" flipV="false" rot="0">
              <a:off x="0" y="0"/>
              <a:ext cx="3456432" cy="1645920"/>
            </a:xfrm>
            <a:custGeom>
              <a:avLst/>
              <a:gdLst/>
              <a:ahLst/>
              <a:cxnLst/>
              <a:rect r="r" b="b" t="t" l="l"/>
              <a:pathLst>
                <a:path h="1645920" w="3456432">
                  <a:moveTo>
                    <a:pt x="0" y="0"/>
                  </a:moveTo>
                  <a:lnTo>
                    <a:pt x="3456432" y="0"/>
                  </a:lnTo>
                  <a:lnTo>
                    <a:pt x="3456432" y="1645920"/>
                  </a:lnTo>
                  <a:lnTo>
                    <a:pt x="0" y="1645920"/>
                  </a:lnTo>
                  <a:close/>
                </a:path>
              </a:pathLst>
            </a:custGeom>
            <a:blipFill>
              <a:blip r:embed="rId4">
                <a:alphaModFix amt="0"/>
              </a:blip>
              <a:stretch>
                <a:fillRect l="-11096" t="0" r="-11096" b="0"/>
              </a:stretch>
            </a:blipFill>
          </p:spPr>
        </p:sp>
        <p:sp>
          <p:nvSpPr>
            <p:cNvPr name="TextBox 42" id="42"/>
            <p:cNvSpPr txBox="true"/>
            <p:nvPr/>
          </p:nvSpPr>
          <p:spPr>
            <a:xfrm>
              <a:off x="0" y="-19050"/>
              <a:ext cx="3456432" cy="1664970"/>
            </a:xfrm>
            <a:prstGeom prst="rect">
              <a:avLst/>
            </a:prstGeom>
          </p:spPr>
          <p:txBody>
            <a:bodyPr anchor="ctr" rtlCol="false" tIns="0" lIns="0" bIns="0" rIns="0"/>
            <a:lstStyle/>
            <a:p>
              <a:pPr algn="ctr">
                <a:lnSpc>
                  <a:spcPts val="1889"/>
                </a:lnSpc>
              </a:pPr>
              <a:r>
                <a:rPr lang="en-US" sz="1575">
                  <a:solidFill>
                    <a:srgbClr val="5B7A8C"/>
                  </a:solidFill>
                  <a:latin typeface="Calibri (MS)"/>
                  <a:ea typeface="Calibri (MS)"/>
                  <a:cs typeface="Calibri (MS)"/>
                  <a:sym typeface="Calibri (MS)"/>
                </a:rPr>
                <a:t>PostgreSQL</a:t>
              </a:r>
            </a:p>
            <a:p>
              <a:pPr algn="ctr">
                <a:lnSpc>
                  <a:spcPts val="1889"/>
                </a:lnSpc>
              </a:pPr>
            </a:p>
          </p:txBody>
        </p:sp>
      </p:grpSp>
      <p:grpSp>
        <p:nvGrpSpPr>
          <p:cNvPr name="Group 43" id="43"/>
          <p:cNvGrpSpPr/>
          <p:nvPr/>
        </p:nvGrpSpPr>
        <p:grpSpPr>
          <a:xfrm rot="0">
            <a:off x="10609326" y="5485533"/>
            <a:ext cx="469773" cy="384048"/>
            <a:chOff x="0" y="0"/>
            <a:chExt cx="626364" cy="512064"/>
          </a:xfrm>
        </p:grpSpPr>
        <p:sp>
          <p:nvSpPr>
            <p:cNvPr name="Freeform 44" id="44"/>
            <p:cNvSpPr/>
            <p:nvPr/>
          </p:nvSpPr>
          <p:spPr>
            <a:xfrm flipH="false" flipV="false" rot="0">
              <a:off x="0" y="0"/>
              <a:ext cx="626364" cy="512064"/>
            </a:xfrm>
            <a:custGeom>
              <a:avLst/>
              <a:gdLst/>
              <a:ahLst/>
              <a:cxnLst/>
              <a:rect r="r" b="b" t="t" l="l"/>
              <a:pathLst>
                <a:path h="512064" w="626364">
                  <a:moveTo>
                    <a:pt x="0" y="128016"/>
                  </a:moveTo>
                  <a:lnTo>
                    <a:pt x="370332" y="128016"/>
                  </a:lnTo>
                  <a:lnTo>
                    <a:pt x="370332" y="0"/>
                  </a:lnTo>
                  <a:lnTo>
                    <a:pt x="626364" y="256032"/>
                  </a:lnTo>
                  <a:lnTo>
                    <a:pt x="370332" y="512064"/>
                  </a:lnTo>
                  <a:lnTo>
                    <a:pt x="370332" y="384048"/>
                  </a:lnTo>
                  <a:lnTo>
                    <a:pt x="0" y="384048"/>
                  </a:lnTo>
                  <a:close/>
                </a:path>
              </a:pathLst>
            </a:custGeom>
            <a:solidFill>
              <a:srgbClr val="087E8B"/>
            </a:solidFill>
          </p:spPr>
        </p:sp>
      </p:grpSp>
      <p:grpSp>
        <p:nvGrpSpPr>
          <p:cNvPr name="Group 45" id="45"/>
          <p:cNvGrpSpPr/>
          <p:nvPr/>
        </p:nvGrpSpPr>
        <p:grpSpPr>
          <a:xfrm rot="0">
            <a:off x="11161395" y="3928767"/>
            <a:ext cx="2811780" cy="3497580"/>
            <a:chOff x="0" y="0"/>
            <a:chExt cx="3749040" cy="4663440"/>
          </a:xfrm>
        </p:grpSpPr>
        <p:sp>
          <p:nvSpPr>
            <p:cNvPr name="Freeform 46" id="46"/>
            <p:cNvSpPr/>
            <p:nvPr/>
          </p:nvSpPr>
          <p:spPr>
            <a:xfrm flipH="false" flipV="false" rot="0">
              <a:off x="0" y="0"/>
              <a:ext cx="3749040" cy="4663440"/>
            </a:xfrm>
            <a:custGeom>
              <a:avLst/>
              <a:gdLst/>
              <a:ahLst/>
              <a:cxnLst/>
              <a:rect r="r" b="b" t="t" l="l"/>
              <a:pathLst>
                <a:path h="4663440" w="3749040">
                  <a:moveTo>
                    <a:pt x="0" y="182880"/>
                  </a:moveTo>
                  <a:cubicBezTo>
                    <a:pt x="0" y="81915"/>
                    <a:pt x="81915" y="0"/>
                    <a:pt x="182880" y="0"/>
                  </a:cubicBezTo>
                  <a:lnTo>
                    <a:pt x="3566160" y="0"/>
                  </a:lnTo>
                  <a:cubicBezTo>
                    <a:pt x="3667125" y="0"/>
                    <a:pt x="3749040" y="81915"/>
                    <a:pt x="3749040" y="182880"/>
                  </a:cubicBezTo>
                  <a:lnTo>
                    <a:pt x="3749040" y="4480560"/>
                  </a:lnTo>
                  <a:cubicBezTo>
                    <a:pt x="3749040" y="4581525"/>
                    <a:pt x="3667125" y="4663440"/>
                    <a:pt x="3566160" y="4663440"/>
                  </a:cubicBezTo>
                  <a:lnTo>
                    <a:pt x="182880" y="4663440"/>
                  </a:lnTo>
                  <a:cubicBezTo>
                    <a:pt x="81915" y="4663440"/>
                    <a:pt x="0" y="4581525"/>
                    <a:pt x="0" y="4480560"/>
                  </a:cubicBezTo>
                  <a:close/>
                </a:path>
              </a:pathLst>
            </a:custGeom>
            <a:solidFill>
              <a:srgbClr val="FFFFFF"/>
            </a:solidFill>
          </p:spPr>
        </p:sp>
      </p:grpSp>
      <p:grpSp>
        <p:nvGrpSpPr>
          <p:cNvPr name="Group 47" id="47"/>
          <p:cNvGrpSpPr/>
          <p:nvPr/>
        </p:nvGrpSpPr>
        <p:grpSpPr>
          <a:xfrm rot="0">
            <a:off x="12073509" y="4312815"/>
            <a:ext cx="987552" cy="987552"/>
            <a:chOff x="0" y="0"/>
            <a:chExt cx="1316736" cy="1316736"/>
          </a:xfrm>
        </p:grpSpPr>
        <p:sp>
          <p:nvSpPr>
            <p:cNvPr name="Freeform 48" id="48"/>
            <p:cNvSpPr/>
            <p:nvPr/>
          </p:nvSpPr>
          <p:spPr>
            <a:xfrm flipH="false" flipV="false" rot="0">
              <a:off x="0" y="0"/>
              <a:ext cx="1316736" cy="1316736"/>
            </a:xfrm>
            <a:custGeom>
              <a:avLst/>
              <a:gdLst/>
              <a:ahLst/>
              <a:cxnLst/>
              <a:rect r="r" b="b" t="t" l="l"/>
              <a:pathLst>
                <a:path h="1316736" w="1316736">
                  <a:moveTo>
                    <a:pt x="0" y="658368"/>
                  </a:moveTo>
                  <a:cubicBezTo>
                    <a:pt x="0" y="294767"/>
                    <a:pt x="294767" y="0"/>
                    <a:pt x="658368" y="0"/>
                  </a:cubicBezTo>
                  <a:cubicBezTo>
                    <a:pt x="1021969" y="0"/>
                    <a:pt x="1316736" y="294767"/>
                    <a:pt x="1316736" y="658368"/>
                  </a:cubicBezTo>
                  <a:cubicBezTo>
                    <a:pt x="1316736" y="1021969"/>
                    <a:pt x="1021969" y="1316736"/>
                    <a:pt x="658368" y="1316736"/>
                  </a:cubicBezTo>
                  <a:cubicBezTo>
                    <a:pt x="294767" y="1316736"/>
                    <a:pt x="0" y="1021969"/>
                    <a:pt x="0" y="658368"/>
                  </a:cubicBezTo>
                  <a:close/>
                </a:path>
              </a:pathLst>
            </a:custGeom>
            <a:solidFill>
              <a:srgbClr val="F9A826"/>
            </a:solidFill>
          </p:spPr>
        </p:sp>
      </p:grpSp>
      <p:grpSp>
        <p:nvGrpSpPr>
          <p:cNvPr name="Group 49" id="49"/>
          <p:cNvGrpSpPr/>
          <p:nvPr/>
        </p:nvGrpSpPr>
        <p:grpSpPr>
          <a:xfrm rot="0">
            <a:off x="12330274" y="4569581"/>
            <a:ext cx="474021" cy="474021"/>
            <a:chOff x="0" y="0"/>
            <a:chExt cx="632028" cy="632028"/>
          </a:xfrm>
        </p:grpSpPr>
        <p:sp>
          <p:nvSpPr>
            <p:cNvPr name="Freeform 50" id="50" descr="icons/chartline_white.png"/>
            <p:cNvSpPr/>
            <p:nvPr/>
          </p:nvSpPr>
          <p:spPr>
            <a:xfrm flipH="false" flipV="false" rot="0">
              <a:off x="0" y="0"/>
              <a:ext cx="632079" cy="632079"/>
            </a:xfrm>
            <a:custGeom>
              <a:avLst/>
              <a:gdLst/>
              <a:ahLst/>
              <a:cxnLst/>
              <a:rect r="r" b="b" t="t" l="l"/>
              <a:pathLst>
                <a:path h="632079" w="632079">
                  <a:moveTo>
                    <a:pt x="0" y="0"/>
                  </a:moveTo>
                  <a:lnTo>
                    <a:pt x="632079" y="0"/>
                  </a:lnTo>
                  <a:lnTo>
                    <a:pt x="632079" y="632079"/>
                  </a:lnTo>
                  <a:lnTo>
                    <a:pt x="0" y="632079"/>
                  </a:lnTo>
                  <a:lnTo>
                    <a:pt x="0" y="0"/>
                  </a:lnTo>
                  <a:close/>
                </a:path>
              </a:pathLst>
            </a:custGeom>
            <a:blipFill>
              <a:blip r:embed="rId7"/>
              <a:stretch>
                <a:fillRect l="0" t="0" r="8" b="8"/>
              </a:stretch>
            </a:blipFill>
          </p:spPr>
        </p:sp>
      </p:grpSp>
      <p:grpSp>
        <p:nvGrpSpPr>
          <p:cNvPr name="Group 51" id="51"/>
          <p:cNvGrpSpPr/>
          <p:nvPr/>
        </p:nvGrpSpPr>
        <p:grpSpPr>
          <a:xfrm rot="0">
            <a:off x="11229975" y="5464959"/>
            <a:ext cx="2674620" cy="548640"/>
            <a:chOff x="0" y="0"/>
            <a:chExt cx="3566160" cy="731520"/>
          </a:xfrm>
        </p:grpSpPr>
        <p:sp>
          <p:nvSpPr>
            <p:cNvPr name="Freeform 52" id="52"/>
            <p:cNvSpPr/>
            <p:nvPr/>
          </p:nvSpPr>
          <p:spPr>
            <a:xfrm flipH="false" flipV="false" rot="0">
              <a:off x="0" y="0"/>
              <a:ext cx="3566160" cy="731520"/>
            </a:xfrm>
            <a:custGeom>
              <a:avLst/>
              <a:gdLst/>
              <a:ahLst/>
              <a:cxnLst/>
              <a:rect r="r" b="b" t="t" l="l"/>
              <a:pathLst>
                <a:path h="731520" w="3566160">
                  <a:moveTo>
                    <a:pt x="0" y="0"/>
                  </a:moveTo>
                  <a:lnTo>
                    <a:pt x="3566160" y="0"/>
                  </a:lnTo>
                  <a:lnTo>
                    <a:pt x="3566160" y="731520"/>
                  </a:lnTo>
                  <a:lnTo>
                    <a:pt x="0" y="731520"/>
                  </a:lnTo>
                  <a:close/>
                </a:path>
              </a:pathLst>
            </a:custGeom>
            <a:blipFill>
              <a:blip r:embed="rId4">
                <a:alphaModFix amt="0"/>
              </a:blip>
              <a:stretch>
                <a:fillRect l="0" t="-44989" r="0" b="-44989"/>
              </a:stretch>
            </a:blipFill>
          </p:spPr>
        </p:sp>
        <p:sp>
          <p:nvSpPr>
            <p:cNvPr name="TextBox 53" id="53"/>
            <p:cNvSpPr txBox="true"/>
            <p:nvPr/>
          </p:nvSpPr>
          <p:spPr>
            <a:xfrm>
              <a:off x="0" y="-19050"/>
              <a:ext cx="3566160" cy="750570"/>
            </a:xfrm>
            <a:prstGeom prst="rect">
              <a:avLst/>
            </a:prstGeom>
          </p:spPr>
          <p:txBody>
            <a:bodyPr anchor="ctr" rtlCol="false" tIns="0" lIns="0" bIns="0" rIns="0"/>
            <a:lstStyle/>
            <a:p>
              <a:pPr algn="ctr">
                <a:lnSpc>
                  <a:spcPts val="2700"/>
                </a:lnSpc>
              </a:pPr>
              <a:r>
                <a:rPr lang="en-US" sz="2250" b="true">
                  <a:solidFill>
                    <a:srgbClr val="0B3954"/>
                  </a:solidFill>
                  <a:latin typeface="Cambria Bold"/>
                  <a:ea typeface="Cambria Bold"/>
                  <a:cs typeface="Cambria Bold"/>
                  <a:sym typeface="Cambria Bold"/>
                </a:rPr>
                <a:t>GOLD</a:t>
              </a:r>
            </a:p>
          </p:txBody>
        </p:sp>
      </p:grpSp>
      <p:grpSp>
        <p:nvGrpSpPr>
          <p:cNvPr name="Group 54" id="54"/>
          <p:cNvGrpSpPr/>
          <p:nvPr/>
        </p:nvGrpSpPr>
        <p:grpSpPr>
          <a:xfrm rot="0">
            <a:off x="11271123" y="6054747"/>
            <a:ext cx="2592324" cy="1234440"/>
            <a:chOff x="0" y="0"/>
            <a:chExt cx="3456432" cy="1645920"/>
          </a:xfrm>
        </p:grpSpPr>
        <p:sp>
          <p:nvSpPr>
            <p:cNvPr name="Freeform 55" id="55"/>
            <p:cNvSpPr/>
            <p:nvPr/>
          </p:nvSpPr>
          <p:spPr>
            <a:xfrm flipH="false" flipV="false" rot="0">
              <a:off x="0" y="0"/>
              <a:ext cx="3456432" cy="1645920"/>
            </a:xfrm>
            <a:custGeom>
              <a:avLst/>
              <a:gdLst/>
              <a:ahLst/>
              <a:cxnLst/>
              <a:rect r="r" b="b" t="t" l="l"/>
              <a:pathLst>
                <a:path h="1645920" w="3456432">
                  <a:moveTo>
                    <a:pt x="0" y="0"/>
                  </a:moveTo>
                  <a:lnTo>
                    <a:pt x="3456432" y="0"/>
                  </a:lnTo>
                  <a:lnTo>
                    <a:pt x="3456432" y="1645920"/>
                  </a:lnTo>
                  <a:lnTo>
                    <a:pt x="0" y="1645920"/>
                  </a:lnTo>
                  <a:close/>
                </a:path>
              </a:pathLst>
            </a:custGeom>
            <a:blipFill>
              <a:blip r:embed="rId4">
                <a:alphaModFix amt="0"/>
              </a:blip>
              <a:stretch>
                <a:fillRect l="-11096" t="0" r="-11096" b="0"/>
              </a:stretch>
            </a:blipFill>
          </p:spPr>
        </p:sp>
        <p:sp>
          <p:nvSpPr>
            <p:cNvPr name="TextBox 56" id="56"/>
            <p:cNvSpPr txBox="true"/>
            <p:nvPr/>
          </p:nvSpPr>
          <p:spPr>
            <a:xfrm>
              <a:off x="0" y="-19050"/>
              <a:ext cx="3456432" cy="1664970"/>
            </a:xfrm>
            <a:prstGeom prst="rect">
              <a:avLst/>
            </a:prstGeom>
          </p:spPr>
          <p:txBody>
            <a:bodyPr anchor="ctr" rtlCol="false" tIns="0" lIns="0" bIns="0" rIns="0"/>
            <a:lstStyle/>
            <a:p>
              <a:pPr algn="ctr">
                <a:lnSpc>
                  <a:spcPts val="1889"/>
                </a:lnSpc>
              </a:pPr>
              <a:r>
                <a:rPr lang="en-US" sz="1575">
                  <a:solidFill>
                    <a:srgbClr val="5B7A8C"/>
                  </a:solidFill>
                  <a:latin typeface="Calibri (MS)"/>
                  <a:ea typeface="Calibri (MS)"/>
                  <a:cs typeface="Calibri (MS)"/>
                  <a:sym typeface="Calibri (MS)"/>
                </a:rPr>
                <a:t>Vistas SQL</a:t>
              </a:r>
            </a:p>
            <a:p>
              <a:pPr algn="ctr">
                <a:lnSpc>
                  <a:spcPts val="1889"/>
                </a:lnSpc>
              </a:pPr>
              <a:r>
                <a:rPr lang="en-US" sz="1575">
                  <a:solidFill>
                    <a:srgbClr val="5B7A8C"/>
                  </a:solidFill>
                  <a:latin typeface="Calibri (MS)"/>
                  <a:ea typeface="Calibri (MS)"/>
                  <a:cs typeface="Calibri (MS)"/>
                  <a:sym typeface="Calibri (MS)"/>
                </a:rPr>
                <a:t>analíticas</a:t>
              </a:r>
            </a:p>
          </p:txBody>
        </p:sp>
      </p:grpSp>
      <p:grpSp>
        <p:nvGrpSpPr>
          <p:cNvPr name="Group 57" id="57"/>
          <p:cNvGrpSpPr/>
          <p:nvPr/>
        </p:nvGrpSpPr>
        <p:grpSpPr>
          <a:xfrm rot="0">
            <a:off x="14055471" y="5485533"/>
            <a:ext cx="469773" cy="384048"/>
            <a:chOff x="0" y="0"/>
            <a:chExt cx="626364" cy="512064"/>
          </a:xfrm>
        </p:grpSpPr>
        <p:sp>
          <p:nvSpPr>
            <p:cNvPr name="Freeform 58" id="58"/>
            <p:cNvSpPr/>
            <p:nvPr/>
          </p:nvSpPr>
          <p:spPr>
            <a:xfrm flipH="false" flipV="false" rot="0">
              <a:off x="0" y="0"/>
              <a:ext cx="626364" cy="512064"/>
            </a:xfrm>
            <a:custGeom>
              <a:avLst/>
              <a:gdLst/>
              <a:ahLst/>
              <a:cxnLst/>
              <a:rect r="r" b="b" t="t" l="l"/>
              <a:pathLst>
                <a:path h="512064" w="626364">
                  <a:moveTo>
                    <a:pt x="0" y="128016"/>
                  </a:moveTo>
                  <a:lnTo>
                    <a:pt x="370332" y="128016"/>
                  </a:lnTo>
                  <a:lnTo>
                    <a:pt x="370332" y="0"/>
                  </a:lnTo>
                  <a:lnTo>
                    <a:pt x="626364" y="256032"/>
                  </a:lnTo>
                  <a:lnTo>
                    <a:pt x="370332" y="512064"/>
                  </a:lnTo>
                  <a:lnTo>
                    <a:pt x="370332" y="384048"/>
                  </a:lnTo>
                  <a:lnTo>
                    <a:pt x="0" y="384048"/>
                  </a:lnTo>
                  <a:close/>
                </a:path>
              </a:pathLst>
            </a:custGeom>
            <a:solidFill>
              <a:srgbClr val="087E8B"/>
            </a:solidFill>
          </p:spPr>
        </p:sp>
      </p:grpSp>
      <p:grpSp>
        <p:nvGrpSpPr>
          <p:cNvPr name="Group 59" id="59"/>
          <p:cNvGrpSpPr/>
          <p:nvPr/>
        </p:nvGrpSpPr>
        <p:grpSpPr>
          <a:xfrm rot="0">
            <a:off x="14607540" y="3928767"/>
            <a:ext cx="2811780" cy="3497580"/>
            <a:chOff x="0" y="0"/>
            <a:chExt cx="3749040" cy="4663440"/>
          </a:xfrm>
        </p:grpSpPr>
        <p:sp>
          <p:nvSpPr>
            <p:cNvPr name="Freeform 60" id="60"/>
            <p:cNvSpPr/>
            <p:nvPr/>
          </p:nvSpPr>
          <p:spPr>
            <a:xfrm flipH="false" flipV="false" rot="0">
              <a:off x="0" y="0"/>
              <a:ext cx="3749040" cy="4663440"/>
            </a:xfrm>
            <a:custGeom>
              <a:avLst/>
              <a:gdLst/>
              <a:ahLst/>
              <a:cxnLst/>
              <a:rect r="r" b="b" t="t" l="l"/>
              <a:pathLst>
                <a:path h="4663440" w="3749040">
                  <a:moveTo>
                    <a:pt x="0" y="182880"/>
                  </a:moveTo>
                  <a:cubicBezTo>
                    <a:pt x="0" y="81915"/>
                    <a:pt x="81915" y="0"/>
                    <a:pt x="182880" y="0"/>
                  </a:cubicBezTo>
                  <a:lnTo>
                    <a:pt x="3566160" y="0"/>
                  </a:lnTo>
                  <a:cubicBezTo>
                    <a:pt x="3667125" y="0"/>
                    <a:pt x="3749040" y="81915"/>
                    <a:pt x="3749040" y="182880"/>
                  </a:cubicBezTo>
                  <a:lnTo>
                    <a:pt x="3749040" y="4480560"/>
                  </a:lnTo>
                  <a:cubicBezTo>
                    <a:pt x="3749040" y="4581525"/>
                    <a:pt x="3667125" y="4663440"/>
                    <a:pt x="3566160" y="4663440"/>
                  </a:cubicBezTo>
                  <a:lnTo>
                    <a:pt x="182880" y="4663440"/>
                  </a:lnTo>
                  <a:cubicBezTo>
                    <a:pt x="81915" y="4663440"/>
                    <a:pt x="0" y="4581525"/>
                    <a:pt x="0" y="4480560"/>
                  </a:cubicBezTo>
                  <a:close/>
                </a:path>
              </a:pathLst>
            </a:custGeom>
            <a:solidFill>
              <a:srgbClr val="FFFFFF"/>
            </a:solidFill>
          </p:spPr>
        </p:sp>
      </p:grpSp>
      <p:grpSp>
        <p:nvGrpSpPr>
          <p:cNvPr name="Group 61" id="61"/>
          <p:cNvGrpSpPr/>
          <p:nvPr/>
        </p:nvGrpSpPr>
        <p:grpSpPr>
          <a:xfrm rot="0">
            <a:off x="15519654" y="4312815"/>
            <a:ext cx="987552" cy="987552"/>
            <a:chOff x="0" y="0"/>
            <a:chExt cx="1316736" cy="1316736"/>
          </a:xfrm>
        </p:grpSpPr>
        <p:sp>
          <p:nvSpPr>
            <p:cNvPr name="Freeform 62" id="62"/>
            <p:cNvSpPr/>
            <p:nvPr/>
          </p:nvSpPr>
          <p:spPr>
            <a:xfrm flipH="false" flipV="false" rot="0">
              <a:off x="0" y="0"/>
              <a:ext cx="1316736" cy="1316736"/>
            </a:xfrm>
            <a:custGeom>
              <a:avLst/>
              <a:gdLst/>
              <a:ahLst/>
              <a:cxnLst/>
              <a:rect r="r" b="b" t="t" l="l"/>
              <a:pathLst>
                <a:path h="1316736" w="1316736">
                  <a:moveTo>
                    <a:pt x="0" y="658368"/>
                  </a:moveTo>
                  <a:cubicBezTo>
                    <a:pt x="0" y="294767"/>
                    <a:pt x="294767" y="0"/>
                    <a:pt x="658368" y="0"/>
                  </a:cubicBezTo>
                  <a:cubicBezTo>
                    <a:pt x="1021969" y="0"/>
                    <a:pt x="1316736" y="294767"/>
                    <a:pt x="1316736" y="658368"/>
                  </a:cubicBezTo>
                  <a:cubicBezTo>
                    <a:pt x="1316736" y="1021969"/>
                    <a:pt x="1021969" y="1316736"/>
                    <a:pt x="658368" y="1316736"/>
                  </a:cubicBezTo>
                  <a:cubicBezTo>
                    <a:pt x="294767" y="1316736"/>
                    <a:pt x="0" y="1021969"/>
                    <a:pt x="0" y="658368"/>
                  </a:cubicBezTo>
                  <a:close/>
                </a:path>
              </a:pathLst>
            </a:custGeom>
            <a:solidFill>
              <a:srgbClr val="0B3954"/>
            </a:solidFill>
          </p:spPr>
        </p:sp>
      </p:grpSp>
      <p:grpSp>
        <p:nvGrpSpPr>
          <p:cNvPr name="Group 63" id="63"/>
          <p:cNvGrpSpPr/>
          <p:nvPr/>
        </p:nvGrpSpPr>
        <p:grpSpPr>
          <a:xfrm rot="0">
            <a:off x="15776419" y="4569581"/>
            <a:ext cx="474021" cy="474021"/>
            <a:chOff x="0" y="0"/>
            <a:chExt cx="632028" cy="632028"/>
          </a:xfrm>
        </p:grpSpPr>
        <p:sp>
          <p:nvSpPr>
            <p:cNvPr name="Freeform 64" id="64" descr="icons/chartbar_white.png"/>
            <p:cNvSpPr/>
            <p:nvPr/>
          </p:nvSpPr>
          <p:spPr>
            <a:xfrm flipH="false" flipV="false" rot="0">
              <a:off x="0" y="0"/>
              <a:ext cx="632079" cy="632079"/>
            </a:xfrm>
            <a:custGeom>
              <a:avLst/>
              <a:gdLst/>
              <a:ahLst/>
              <a:cxnLst/>
              <a:rect r="r" b="b" t="t" l="l"/>
              <a:pathLst>
                <a:path h="632079" w="632079">
                  <a:moveTo>
                    <a:pt x="0" y="0"/>
                  </a:moveTo>
                  <a:lnTo>
                    <a:pt x="632079" y="0"/>
                  </a:lnTo>
                  <a:lnTo>
                    <a:pt x="632079" y="632079"/>
                  </a:lnTo>
                  <a:lnTo>
                    <a:pt x="0" y="632079"/>
                  </a:lnTo>
                  <a:lnTo>
                    <a:pt x="0" y="0"/>
                  </a:lnTo>
                  <a:close/>
                </a:path>
              </a:pathLst>
            </a:custGeom>
            <a:blipFill>
              <a:blip r:embed="rId8"/>
              <a:stretch>
                <a:fillRect l="0" t="0" r="8" b="8"/>
              </a:stretch>
            </a:blipFill>
          </p:spPr>
        </p:sp>
      </p:grpSp>
      <p:grpSp>
        <p:nvGrpSpPr>
          <p:cNvPr name="Group 65" id="65"/>
          <p:cNvGrpSpPr/>
          <p:nvPr/>
        </p:nvGrpSpPr>
        <p:grpSpPr>
          <a:xfrm rot="0">
            <a:off x="14676120" y="5464959"/>
            <a:ext cx="2674620" cy="548640"/>
            <a:chOff x="0" y="0"/>
            <a:chExt cx="3566160" cy="731520"/>
          </a:xfrm>
        </p:grpSpPr>
        <p:sp>
          <p:nvSpPr>
            <p:cNvPr name="Freeform 66" id="66"/>
            <p:cNvSpPr/>
            <p:nvPr/>
          </p:nvSpPr>
          <p:spPr>
            <a:xfrm flipH="false" flipV="false" rot="0">
              <a:off x="0" y="0"/>
              <a:ext cx="3566160" cy="731520"/>
            </a:xfrm>
            <a:custGeom>
              <a:avLst/>
              <a:gdLst/>
              <a:ahLst/>
              <a:cxnLst/>
              <a:rect r="r" b="b" t="t" l="l"/>
              <a:pathLst>
                <a:path h="731520" w="3566160">
                  <a:moveTo>
                    <a:pt x="0" y="0"/>
                  </a:moveTo>
                  <a:lnTo>
                    <a:pt x="3566160" y="0"/>
                  </a:lnTo>
                  <a:lnTo>
                    <a:pt x="3566160" y="731520"/>
                  </a:lnTo>
                  <a:lnTo>
                    <a:pt x="0" y="731520"/>
                  </a:lnTo>
                  <a:close/>
                </a:path>
              </a:pathLst>
            </a:custGeom>
            <a:blipFill>
              <a:blip r:embed="rId4">
                <a:alphaModFix amt="0"/>
              </a:blip>
              <a:stretch>
                <a:fillRect l="0" t="-44989" r="0" b="-44989"/>
              </a:stretch>
            </a:blipFill>
          </p:spPr>
        </p:sp>
        <p:sp>
          <p:nvSpPr>
            <p:cNvPr name="TextBox 67" id="67"/>
            <p:cNvSpPr txBox="true"/>
            <p:nvPr/>
          </p:nvSpPr>
          <p:spPr>
            <a:xfrm>
              <a:off x="0" y="-19050"/>
              <a:ext cx="3566160" cy="750570"/>
            </a:xfrm>
            <a:prstGeom prst="rect">
              <a:avLst/>
            </a:prstGeom>
          </p:spPr>
          <p:txBody>
            <a:bodyPr anchor="ctr" rtlCol="false" tIns="0" lIns="0" bIns="0" rIns="0"/>
            <a:lstStyle/>
            <a:p>
              <a:pPr algn="ctr">
                <a:lnSpc>
                  <a:spcPts val="2700"/>
                </a:lnSpc>
              </a:pPr>
              <a:r>
                <a:rPr lang="en-US" sz="2250" b="true">
                  <a:solidFill>
                    <a:srgbClr val="0B3954"/>
                  </a:solidFill>
                  <a:latin typeface="Cambria Bold"/>
                  <a:ea typeface="Cambria Bold"/>
                  <a:cs typeface="Cambria Bold"/>
                  <a:sym typeface="Cambria Bold"/>
                </a:rPr>
                <a:t>DASHBOARD</a:t>
              </a:r>
            </a:p>
          </p:txBody>
        </p:sp>
      </p:grpSp>
      <p:grpSp>
        <p:nvGrpSpPr>
          <p:cNvPr name="Group 68" id="68"/>
          <p:cNvGrpSpPr/>
          <p:nvPr/>
        </p:nvGrpSpPr>
        <p:grpSpPr>
          <a:xfrm rot="0">
            <a:off x="14717268" y="6054747"/>
            <a:ext cx="2592324" cy="1234440"/>
            <a:chOff x="0" y="0"/>
            <a:chExt cx="3456432" cy="1645920"/>
          </a:xfrm>
        </p:grpSpPr>
        <p:sp>
          <p:nvSpPr>
            <p:cNvPr name="Freeform 69" id="69"/>
            <p:cNvSpPr/>
            <p:nvPr/>
          </p:nvSpPr>
          <p:spPr>
            <a:xfrm flipH="false" flipV="false" rot="0">
              <a:off x="0" y="0"/>
              <a:ext cx="3456432" cy="1645920"/>
            </a:xfrm>
            <a:custGeom>
              <a:avLst/>
              <a:gdLst/>
              <a:ahLst/>
              <a:cxnLst/>
              <a:rect r="r" b="b" t="t" l="l"/>
              <a:pathLst>
                <a:path h="1645920" w="3456432">
                  <a:moveTo>
                    <a:pt x="0" y="0"/>
                  </a:moveTo>
                  <a:lnTo>
                    <a:pt x="3456432" y="0"/>
                  </a:lnTo>
                  <a:lnTo>
                    <a:pt x="3456432" y="1645920"/>
                  </a:lnTo>
                  <a:lnTo>
                    <a:pt x="0" y="1645920"/>
                  </a:lnTo>
                  <a:close/>
                </a:path>
              </a:pathLst>
            </a:custGeom>
            <a:blipFill>
              <a:blip r:embed="rId4">
                <a:alphaModFix amt="0"/>
              </a:blip>
              <a:stretch>
                <a:fillRect l="-11096" t="0" r="-11096" b="0"/>
              </a:stretch>
            </a:blipFill>
          </p:spPr>
        </p:sp>
        <p:sp>
          <p:nvSpPr>
            <p:cNvPr name="TextBox 70" id="70"/>
            <p:cNvSpPr txBox="true"/>
            <p:nvPr/>
          </p:nvSpPr>
          <p:spPr>
            <a:xfrm>
              <a:off x="0" y="-19050"/>
              <a:ext cx="3456432" cy="1664970"/>
            </a:xfrm>
            <a:prstGeom prst="rect">
              <a:avLst/>
            </a:prstGeom>
          </p:spPr>
          <p:txBody>
            <a:bodyPr anchor="ctr" rtlCol="false" tIns="0" lIns="0" bIns="0" rIns="0"/>
            <a:lstStyle/>
            <a:p>
              <a:pPr algn="ctr">
                <a:lnSpc>
                  <a:spcPts val="1889"/>
                </a:lnSpc>
              </a:pPr>
              <a:r>
                <a:rPr lang="en-US" sz="1575">
                  <a:solidFill>
                    <a:srgbClr val="5B7A8C"/>
                  </a:solidFill>
                  <a:latin typeface="Calibri (MS)"/>
                  <a:ea typeface="Calibri (MS)"/>
                  <a:cs typeface="Calibri (MS)"/>
                  <a:sym typeface="Calibri (MS)"/>
                </a:rPr>
                <a:t>Power BI</a:t>
              </a:r>
            </a:p>
            <a:p>
              <a:pPr algn="ctr">
                <a:lnSpc>
                  <a:spcPts val="1889"/>
                </a:lnSpc>
              </a:pPr>
              <a:r>
                <a:rPr lang="en-US" sz="1575">
                  <a:solidFill>
                    <a:srgbClr val="5B7A8C"/>
                  </a:solidFill>
                  <a:latin typeface="Calibri (MS)"/>
                  <a:ea typeface="Calibri (MS)"/>
                  <a:cs typeface="Calibri (MS)"/>
                  <a:sym typeface="Calibri (MS)"/>
                </a:rPr>
                <a:t>3 páginas</a:t>
              </a:r>
            </a:p>
          </p:txBody>
        </p:sp>
      </p:grpSp>
      <p:grpSp>
        <p:nvGrpSpPr>
          <p:cNvPr name="Group 71" id="71"/>
          <p:cNvGrpSpPr/>
          <p:nvPr/>
        </p:nvGrpSpPr>
        <p:grpSpPr>
          <a:xfrm rot="0">
            <a:off x="822960" y="7645422"/>
            <a:ext cx="16596360" cy="2125980"/>
            <a:chOff x="0" y="0"/>
            <a:chExt cx="22128480" cy="2834640"/>
          </a:xfrm>
        </p:grpSpPr>
        <p:sp>
          <p:nvSpPr>
            <p:cNvPr name="Freeform 72" id="72"/>
            <p:cNvSpPr/>
            <p:nvPr/>
          </p:nvSpPr>
          <p:spPr>
            <a:xfrm flipH="false" flipV="false" rot="0">
              <a:off x="0" y="0"/>
              <a:ext cx="22128479" cy="2834640"/>
            </a:xfrm>
            <a:custGeom>
              <a:avLst/>
              <a:gdLst/>
              <a:ahLst/>
              <a:cxnLst/>
              <a:rect r="r" b="b" t="t" l="l"/>
              <a:pathLst>
                <a:path h="2834640" w="22128479">
                  <a:moveTo>
                    <a:pt x="0" y="164592"/>
                  </a:moveTo>
                  <a:cubicBezTo>
                    <a:pt x="0" y="73660"/>
                    <a:pt x="73660" y="0"/>
                    <a:pt x="164592" y="0"/>
                  </a:cubicBezTo>
                  <a:lnTo>
                    <a:pt x="21963887" y="0"/>
                  </a:lnTo>
                  <a:cubicBezTo>
                    <a:pt x="22054820" y="0"/>
                    <a:pt x="22128479" y="73660"/>
                    <a:pt x="22128479" y="164592"/>
                  </a:cubicBezTo>
                  <a:lnTo>
                    <a:pt x="22128479" y="2670048"/>
                  </a:lnTo>
                  <a:cubicBezTo>
                    <a:pt x="22128479" y="2760980"/>
                    <a:pt x="22054820" y="2834640"/>
                    <a:pt x="21963887" y="2834640"/>
                  </a:cubicBezTo>
                  <a:lnTo>
                    <a:pt x="164592" y="2834640"/>
                  </a:lnTo>
                  <a:cubicBezTo>
                    <a:pt x="73660" y="2834640"/>
                    <a:pt x="0" y="2760980"/>
                    <a:pt x="0" y="2670048"/>
                  </a:cubicBezTo>
                  <a:close/>
                </a:path>
              </a:pathLst>
            </a:custGeom>
            <a:solidFill>
              <a:srgbClr val="F5EAD8"/>
            </a:solidFill>
          </p:spPr>
        </p:sp>
      </p:grpSp>
      <p:grpSp>
        <p:nvGrpSpPr>
          <p:cNvPr name="Group 73" id="73"/>
          <p:cNvGrpSpPr/>
          <p:nvPr/>
        </p:nvGrpSpPr>
        <p:grpSpPr>
          <a:xfrm rot="0">
            <a:off x="1234440" y="8029470"/>
            <a:ext cx="822960" cy="822960"/>
            <a:chOff x="0" y="0"/>
            <a:chExt cx="1097280" cy="1097280"/>
          </a:xfrm>
        </p:grpSpPr>
        <p:sp>
          <p:nvSpPr>
            <p:cNvPr name="Freeform 74" id="74"/>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087E8B"/>
            </a:solidFill>
          </p:spPr>
        </p:sp>
      </p:grpSp>
      <p:grpSp>
        <p:nvGrpSpPr>
          <p:cNvPr name="Group 75" id="75"/>
          <p:cNvGrpSpPr/>
          <p:nvPr/>
        </p:nvGrpSpPr>
        <p:grpSpPr>
          <a:xfrm rot="0">
            <a:off x="1448410" y="8243440"/>
            <a:ext cx="395021" cy="395021"/>
            <a:chOff x="0" y="0"/>
            <a:chExt cx="526694" cy="526694"/>
          </a:xfrm>
        </p:grpSpPr>
        <p:sp>
          <p:nvSpPr>
            <p:cNvPr name="Freeform 76" id="76" descr="icons/robot_white.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9"/>
              <a:stretch>
                <a:fillRect l="0" t="0" r="-4" b="-4"/>
              </a:stretch>
            </a:blipFill>
          </p:spPr>
        </p:sp>
      </p:grpSp>
      <p:grpSp>
        <p:nvGrpSpPr>
          <p:cNvPr name="Group 77" id="77"/>
          <p:cNvGrpSpPr/>
          <p:nvPr/>
        </p:nvGrpSpPr>
        <p:grpSpPr>
          <a:xfrm rot="0">
            <a:off x="2331720" y="7919742"/>
            <a:ext cx="8229600" cy="480060"/>
            <a:chOff x="0" y="0"/>
            <a:chExt cx="10972800" cy="640080"/>
          </a:xfrm>
        </p:grpSpPr>
        <p:sp>
          <p:nvSpPr>
            <p:cNvPr name="Freeform 78" id="78"/>
            <p:cNvSpPr/>
            <p:nvPr/>
          </p:nvSpPr>
          <p:spPr>
            <a:xfrm flipH="false" flipV="false" rot="0">
              <a:off x="0" y="0"/>
              <a:ext cx="10972800" cy="640080"/>
            </a:xfrm>
            <a:custGeom>
              <a:avLst/>
              <a:gdLst/>
              <a:ahLst/>
              <a:cxnLst/>
              <a:rect r="r" b="b" t="t" l="l"/>
              <a:pathLst>
                <a:path h="640080" w="10972800">
                  <a:moveTo>
                    <a:pt x="0" y="0"/>
                  </a:moveTo>
                  <a:lnTo>
                    <a:pt x="10972800" y="0"/>
                  </a:lnTo>
                  <a:lnTo>
                    <a:pt x="10972800" y="640080"/>
                  </a:lnTo>
                  <a:lnTo>
                    <a:pt x="0" y="640080"/>
                  </a:lnTo>
                  <a:close/>
                </a:path>
              </a:pathLst>
            </a:custGeom>
            <a:blipFill>
              <a:blip r:embed="rId4">
                <a:alphaModFix amt="0"/>
              </a:blip>
              <a:stretch>
                <a:fillRect l="0" t="-284029" r="0" b="-284029"/>
              </a:stretch>
            </a:blipFill>
          </p:spPr>
        </p:sp>
        <p:sp>
          <p:nvSpPr>
            <p:cNvPr name="TextBox 79" id="79"/>
            <p:cNvSpPr txBox="true"/>
            <p:nvPr/>
          </p:nvSpPr>
          <p:spPr>
            <a:xfrm>
              <a:off x="0" y="-47625"/>
              <a:ext cx="10972800" cy="687705"/>
            </a:xfrm>
            <a:prstGeom prst="rect">
              <a:avLst/>
            </a:prstGeom>
          </p:spPr>
          <p:txBody>
            <a:bodyPr anchor="ctr" rtlCol="false" tIns="0" lIns="0" bIns="0" rIns="0"/>
            <a:lstStyle/>
            <a:p>
              <a:pPr algn="l">
                <a:lnSpc>
                  <a:spcPts val="2340"/>
                </a:lnSpc>
              </a:pPr>
              <a:r>
                <a:rPr lang="en-US" sz="1950" b="true">
                  <a:solidFill>
                    <a:srgbClr val="0B3954"/>
                  </a:solidFill>
                  <a:latin typeface="Calibri (MS) Bold"/>
                  <a:ea typeface="Calibri (MS) Bold"/>
                  <a:cs typeface="Calibri (MS) Bold"/>
                  <a:sym typeface="Calibri (MS) Bold"/>
                </a:rPr>
                <a:t>Semana 5+: automatización RPA</a:t>
              </a:r>
            </a:p>
          </p:txBody>
        </p:sp>
      </p:grpSp>
      <p:grpSp>
        <p:nvGrpSpPr>
          <p:cNvPr name="Group 80" id="80"/>
          <p:cNvGrpSpPr/>
          <p:nvPr/>
        </p:nvGrpSpPr>
        <p:grpSpPr>
          <a:xfrm rot="0">
            <a:off x="2331720" y="8427234"/>
            <a:ext cx="14676120" cy="1165860"/>
            <a:chOff x="0" y="0"/>
            <a:chExt cx="19568160" cy="1554480"/>
          </a:xfrm>
        </p:grpSpPr>
        <p:sp>
          <p:nvSpPr>
            <p:cNvPr name="Freeform 81" id="81"/>
            <p:cNvSpPr/>
            <p:nvPr/>
          </p:nvSpPr>
          <p:spPr>
            <a:xfrm flipH="false" flipV="false" rot="0">
              <a:off x="0" y="0"/>
              <a:ext cx="19568161" cy="1554480"/>
            </a:xfrm>
            <a:custGeom>
              <a:avLst/>
              <a:gdLst/>
              <a:ahLst/>
              <a:cxnLst/>
              <a:rect r="r" b="b" t="t" l="l"/>
              <a:pathLst>
                <a:path h="1554480" w="19568161">
                  <a:moveTo>
                    <a:pt x="0" y="0"/>
                  </a:moveTo>
                  <a:lnTo>
                    <a:pt x="19568161" y="0"/>
                  </a:lnTo>
                  <a:lnTo>
                    <a:pt x="19568161" y="1554480"/>
                  </a:lnTo>
                  <a:lnTo>
                    <a:pt x="0" y="1554480"/>
                  </a:lnTo>
                  <a:close/>
                </a:path>
              </a:pathLst>
            </a:custGeom>
            <a:blipFill>
              <a:blip r:embed="rId4">
                <a:alphaModFix amt="0"/>
              </a:blip>
              <a:stretch>
                <a:fillRect l="0" t="-195282" r="0" b="-195282"/>
              </a:stretch>
            </a:blipFill>
          </p:spPr>
        </p:sp>
        <p:sp>
          <p:nvSpPr>
            <p:cNvPr name="TextBox 82" id="82"/>
            <p:cNvSpPr txBox="true"/>
            <p:nvPr/>
          </p:nvSpPr>
          <p:spPr>
            <a:xfrm>
              <a:off x="0" y="-38100"/>
              <a:ext cx="19568160" cy="1592580"/>
            </a:xfrm>
            <a:prstGeom prst="rect">
              <a:avLst/>
            </a:prstGeom>
          </p:spPr>
          <p:txBody>
            <a:bodyPr anchor="ctr" rtlCol="false" tIns="0" lIns="0" bIns="0" rIns="0"/>
            <a:lstStyle/>
            <a:p>
              <a:pPr algn="l">
                <a:lnSpc>
                  <a:spcPts val="2250"/>
                </a:lnSpc>
              </a:pPr>
              <a:r>
                <a:rPr lang="en-US" sz="1875">
                  <a:solidFill>
                    <a:srgbClr val="17262E"/>
                  </a:solidFill>
                  <a:latin typeface="Calibri (MS)"/>
                  <a:ea typeface="Calibri (MS)"/>
                  <a:cs typeface="Calibri (MS)"/>
                  <a:sym typeface="Calibri (MS)"/>
                </a:rPr>
                <a:t>Un RPA deposita archivos en datos_macroentorno detecta y procesa los archivos nuevos sin intervención manual.</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Freeform 2" id="2"/>
          <p:cNvSpPr/>
          <p:nvPr/>
        </p:nvSpPr>
        <p:spPr>
          <a:xfrm flipH="false" flipV="false" rot="0">
            <a:off x="856093" y="2612962"/>
            <a:ext cx="10688033" cy="6053399"/>
          </a:xfrm>
          <a:custGeom>
            <a:avLst/>
            <a:gdLst/>
            <a:ahLst/>
            <a:cxnLst/>
            <a:rect r="r" b="b" t="t" l="l"/>
            <a:pathLst>
              <a:path h="6053399" w="10688033">
                <a:moveTo>
                  <a:pt x="0" y="0"/>
                </a:moveTo>
                <a:lnTo>
                  <a:pt x="10688033" y="0"/>
                </a:lnTo>
                <a:lnTo>
                  <a:pt x="10688033" y="6053399"/>
                </a:lnTo>
                <a:lnTo>
                  <a:pt x="0" y="6053399"/>
                </a:lnTo>
                <a:lnTo>
                  <a:pt x="0" y="0"/>
                </a:lnTo>
                <a:close/>
              </a:path>
            </a:pathLst>
          </a:custGeom>
          <a:blipFill>
            <a:blip r:embed="rId3"/>
            <a:stretch>
              <a:fillRect l="0" t="0" r="0" b="0"/>
            </a:stretch>
          </a:blipFill>
        </p:spPr>
      </p:sp>
      <p:sp>
        <p:nvSpPr>
          <p:cNvPr name="TextBox 3" id="3"/>
          <p:cNvSpPr txBox="true"/>
          <p:nvPr/>
        </p:nvSpPr>
        <p:spPr>
          <a:xfrm rot="0">
            <a:off x="346223" y="1193905"/>
            <a:ext cx="6228083" cy="839718"/>
          </a:xfrm>
          <a:prstGeom prst="rect">
            <a:avLst/>
          </a:prstGeom>
        </p:spPr>
        <p:txBody>
          <a:bodyPr anchor="t" rtlCol="false" tIns="0" lIns="0" bIns="0" rIns="0">
            <a:spAutoFit/>
          </a:bodyPr>
          <a:lstStyle/>
          <a:p>
            <a:pPr algn="ctr">
              <a:lnSpc>
                <a:spcPts val="6317"/>
              </a:lnSpc>
            </a:pPr>
            <a:r>
              <a:rPr lang="en-US" sz="5400" b="true">
                <a:solidFill>
                  <a:srgbClr val="201E1D"/>
                </a:solidFill>
                <a:latin typeface="Arial Bold"/>
                <a:ea typeface="Arial Bold"/>
                <a:cs typeface="Arial Bold"/>
                <a:sym typeface="Arial Bold"/>
              </a:rPr>
              <a:t>Dashboard</a:t>
            </a:r>
          </a:p>
        </p:txBody>
      </p:sp>
      <p:sp>
        <p:nvSpPr>
          <p:cNvPr name="TextBox 4" id="4"/>
          <p:cNvSpPr txBox="true"/>
          <p:nvPr/>
        </p:nvSpPr>
        <p:spPr>
          <a:xfrm rot="0">
            <a:off x="12208869" y="2210195"/>
            <a:ext cx="4386360" cy="6559323"/>
          </a:xfrm>
          <a:prstGeom prst="rect">
            <a:avLst/>
          </a:prstGeom>
        </p:spPr>
        <p:txBody>
          <a:bodyPr anchor="t" rtlCol="false" tIns="0" lIns="0" bIns="0" rIns="0">
            <a:spAutoFit/>
          </a:bodyPr>
          <a:lstStyle/>
          <a:p>
            <a:pPr algn="ctr">
              <a:lnSpc>
                <a:spcPts val="4025"/>
              </a:lnSpc>
              <a:spcBef>
                <a:spcPct val="0"/>
              </a:spcBef>
            </a:pPr>
            <a:r>
              <a:rPr lang="en-US" sz="2441">
                <a:solidFill>
                  <a:srgbClr val="201E1D"/>
                </a:solidFill>
                <a:latin typeface="Arial"/>
                <a:ea typeface="Arial"/>
                <a:cs typeface="Arial"/>
                <a:sym typeface="Arial"/>
              </a:rPr>
              <a:t>Esta página muestra la salud económica de Ecuador en los últimos 20 años. Aquí se combina el crecimiento del país (PIB Real) con las señales que explican sus altibajos: los choques puntuales (2016 y 2020), el rebote pospandemia y la desaceleración reciente, además del riesgo país y el petróleo como factores externos que influyen en la confianza y la inversión.</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Freeform 2" id="2"/>
          <p:cNvSpPr/>
          <p:nvPr/>
        </p:nvSpPr>
        <p:spPr>
          <a:xfrm flipH="false" flipV="false" rot="0">
            <a:off x="697926" y="1618034"/>
            <a:ext cx="12145322" cy="6819389"/>
          </a:xfrm>
          <a:custGeom>
            <a:avLst/>
            <a:gdLst/>
            <a:ahLst/>
            <a:cxnLst/>
            <a:rect r="r" b="b" t="t" l="l"/>
            <a:pathLst>
              <a:path h="6819389" w="12145322">
                <a:moveTo>
                  <a:pt x="0" y="0"/>
                </a:moveTo>
                <a:lnTo>
                  <a:pt x="12145321" y="0"/>
                </a:lnTo>
                <a:lnTo>
                  <a:pt x="12145321" y="6819390"/>
                </a:lnTo>
                <a:lnTo>
                  <a:pt x="0" y="6819390"/>
                </a:lnTo>
                <a:lnTo>
                  <a:pt x="0" y="0"/>
                </a:lnTo>
                <a:close/>
              </a:path>
            </a:pathLst>
          </a:custGeom>
          <a:blipFill>
            <a:blip r:embed="rId3"/>
            <a:stretch>
              <a:fillRect l="0" t="0" r="0" b="0"/>
            </a:stretch>
          </a:blipFill>
        </p:spPr>
      </p:sp>
      <p:sp>
        <p:nvSpPr>
          <p:cNvPr name="TextBox 3" id="3"/>
          <p:cNvSpPr txBox="true"/>
          <p:nvPr/>
        </p:nvSpPr>
        <p:spPr>
          <a:xfrm rot="0">
            <a:off x="13200234" y="1778399"/>
            <a:ext cx="4025030" cy="6986035"/>
          </a:xfrm>
          <a:prstGeom prst="rect">
            <a:avLst/>
          </a:prstGeom>
        </p:spPr>
        <p:txBody>
          <a:bodyPr anchor="t" rtlCol="false" tIns="0" lIns="0" bIns="0" rIns="0">
            <a:spAutoFit/>
          </a:bodyPr>
          <a:lstStyle/>
          <a:p>
            <a:pPr algn="ctr">
              <a:lnSpc>
                <a:spcPts val="3709"/>
              </a:lnSpc>
              <a:spcBef>
                <a:spcPct val="0"/>
              </a:spcBef>
            </a:pPr>
            <a:r>
              <a:rPr lang="en-US" sz="2250">
                <a:solidFill>
                  <a:srgbClr val="000000"/>
                </a:solidFill>
                <a:latin typeface="Arial"/>
                <a:ea typeface="Arial"/>
                <a:cs typeface="Arial"/>
                <a:sym typeface="Arial"/>
              </a:rPr>
              <a:t>Esta página muestra dónde se concentra la actividad económica de Ecuador y cómo está la calidad del empleo. Aquí se cruza el valor agregado bruto por provincia y sector con la evolución del mercado laboral, evidenciando una fuerte concentración en Guayas y Pichincha (y la dependencia petrolera de Orellana), junto con un subempleo creciente que revela precarización laboral pese al desempleo bajo.</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Freeform 2" id="2"/>
          <p:cNvSpPr/>
          <p:nvPr/>
        </p:nvSpPr>
        <p:spPr>
          <a:xfrm flipH="false" flipV="false" rot="0">
            <a:off x="628069" y="1015129"/>
            <a:ext cx="11588813" cy="6630923"/>
          </a:xfrm>
          <a:custGeom>
            <a:avLst/>
            <a:gdLst/>
            <a:ahLst/>
            <a:cxnLst/>
            <a:rect r="r" b="b" t="t" l="l"/>
            <a:pathLst>
              <a:path h="6630923" w="11588813">
                <a:moveTo>
                  <a:pt x="0" y="0"/>
                </a:moveTo>
                <a:lnTo>
                  <a:pt x="11588813" y="0"/>
                </a:lnTo>
                <a:lnTo>
                  <a:pt x="11588813" y="6630923"/>
                </a:lnTo>
                <a:lnTo>
                  <a:pt x="0" y="6630923"/>
                </a:lnTo>
                <a:lnTo>
                  <a:pt x="0" y="0"/>
                </a:lnTo>
                <a:close/>
              </a:path>
            </a:pathLst>
          </a:custGeom>
          <a:blipFill>
            <a:blip r:embed="rId3"/>
            <a:stretch>
              <a:fillRect l="0" t="0" r="0" b="0"/>
            </a:stretch>
          </a:blipFill>
        </p:spPr>
      </p:sp>
      <p:sp>
        <p:nvSpPr>
          <p:cNvPr name="TextBox 3" id="3"/>
          <p:cNvSpPr txBox="true"/>
          <p:nvPr/>
        </p:nvSpPr>
        <p:spPr>
          <a:xfrm rot="0">
            <a:off x="12668654" y="1338220"/>
            <a:ext cx="4759333" cy="4352717"/>
          </a:xfrm>
          <a:prstGeom prst="rect">
            <a:avLst/>
          </a:prstGeom>
        </p:spPr>
        <p:txBody>
          <a:bodyPr anchor="t" rtlCol="false" tIns="0" lIns="0" bIns="0" rIns="0">
            <a:spAutoFit/>
          </a:bodyPr>
          <a:lstStyle/>
          <a:p>
            <a:pPr algn="ctr">
              <a:lnSpc>
                <a:spcPts val="2632"/>
              </a:lnSpc>
              <a:spcBef>
                <a:spcPct val="0"/>
              </a:spcBef>
            </a:pPr>
            <a:r>
              <a:rPr lang="en-US" sz="2250">
                <a:solidFill>
                  <a:srgbClr val="000000"/>
                </a:solidFill>
                <a:latin typeface="Arial"/>
                <a:ea typeface="Arial"/>
                <a:cs typeface="Arial"/>
                <a:sym typeface="Arial"/>
              </a:rPr>
              <a:t>Esta página muestra dónde hay oportunidad de crecimiento para la oferta educativa de UTPL. Aquí se cruza el número de bachilleres egresados con la cantidad de empresas activas por provincia, para identificar zonas donde sobran egresados en relación a las oportunidades locales (Bolívar, Esmeraldas, Carchi), es decir, demanda potencial de educación superior que hoy no está siendo atendida cerca de esas provincias.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EAD8"/>
        </a:solidFill>
      </p:bgPr>
    </p:bg>
    <p:spTree>
      <p:nvGrpSpPr>
        <p:cNvPr id="1" name=""/>
        <p:cNvGrpSpPr/>
        <p:nvPr/>
      </p:nvGrpSpPr>
      <p:grpSpPr>
        <a:xfrm>
          <a:off x="0" y="0"/>
          <a:ext cx="0" cy="0"/>
          <a:chOff x="0" y="0"/>
          <a:chExt cx="0" cy="0"/>
        </a:xfrm>
      </p:grpSpPr>
      <p:sp>
        <p:nvSpPr>
          <p:cNvPr name="TextBox 2" id="2"/>
          <p:cNvSpPr txBox="true"/>
          <p:nvPr/>
        </p:nvSpPr>
        <p:spPr>
          <a:xfrm rot="0">
            <a:off x="1377791" y="1583588"/>
            <a:ext cx="9715185" cy="839718"/>
          </a:xfrm>
          <a:prstGeom prst="rect">
            <a:avLst/>
          </a:prstGeom>
        </p:spPr>
        <p:txBody>
          <a:bodyPr anchor="t" rtlCol="false" tIns="0" lIns="0" bIns="0" rIns="0">
            <a:spAutoFit/>
          </a:bodyPr>
          <a:lstStyle/>
          <a:p>
            <a:pPr algn="l">
              <a:lnSpc>
                <a:spcPts val="6317"/>
              </a:lnSpc>
            </a:pPr>
            <a:r>
              <a:rPr lang="en-US" sz="5400" b="true">
                <a:solidFill>
                  <a:srgbClr val="201E1D"/>
                </a:solidFill>
                <a:latin typeface="Arial Bold"/>
                <a:ea typeface="Arial Bold"/>
                <a:cs typeface="Arial Bold"/>
                <a:sym typeface="Arial Bold"/>
              </a:rPr>
              <a:t>Conclusiones y trabajo futuro</a:t>
            </a:r>
          </a:p>
        </p:txBody>
      </p:sp>
      <p:sp>
        <p:nvSpPr>
          <p:cNvPr name="TextBox 3" id="3"/>
          <p:cNvSpPr txBox="true"/>
          <p:nvPr/>
        </p:nvSpPr>
        <p:spPr>
          <a:xfrm rot="0">
            <a:off x="1377791" y="2694232"/>
            <a:ext cx="11695433" cy="2657598"/>
          </a:xfrm>
          <a:prstGeom prst="rect">
            <a:avLst/>
          </a:prstGeom>
        </p:spPr>
        <p:txBody>
          <a:bodyPr anchor="t" rtlCol="false" tIns="0" lIns="0" bIns="0" rIns="0">
            <a:spAutoFit/>
          </a:bodyPr>
          <a:lstStyle/>
          <a:p>
            <a:pPr algn="l">
              <a:lnSpc>
                <a:spcPts val="4212"/>
              </a:lnSpc>
            </a:pPr>
            <a:r>
              <a:rPr lang="en-US" sz="2700">
                <a:solidFill>
                  <a:srgbClr val="201E1D"/>
                </a:solidFill>
                <a:latin typeface="Arial"/>
                <a:ea typeface="Arial"/>
                <a:cs typeface="Arial"/>
                <a:sym typeface="Arial"/>
              </a:rPr>
              <a:t>La arquitectura medallón es reproducible: cualquier miembro del equipo repite el resultado desde el repositorio.</a:t>
            </a:r>
          </a:p>
          <a:p>
            <a:pPr algn="l">
              <a:lnSpc>
                <a:spcPts val="4212"/>
              </a:lnSpc>
            </a:pPr>
            <a:r>
              <a:rPr lang="en-US" sz="2700">
                <a:solidFill>
                  <a:srgbClr val="201E1D"/>
                </a:solidFill>
                <a:latin typeface="Arial"/>
                <a:ea typeface="Arial"/>
                <a:cs typeface="Arial"/>
                <a:sym typeface="Arial"/>
              </a:rPr>
              <a:t>Diseñar el modelo relacional antes de programar redujo errores durante la carga.</a:t>
            </a:r>
          </a:p>
          <a:p>
            <a:pPr algn="l">
              <a:lnSpc>
                <a:spcPts val="4212"/>
              </a:lnSpc>
            </a:pPr>
          </a:p>
        </p:txBody>
      </p:sp>
      <p:grpSp>
        <p:nvGrpSpPr>
          <p:cNvPr name="Group 4" id="4"/>
          <p:cNvGrpSpPr/>
          <p:nvPr/>
        </p:nvGrpSpPr>
        <p:grpSpPr>
          <a:xfrm rot="0">
            <a:off x="13362022" y="9456658"/>
            <a:ext cx="3554473" cy="506587"/>
            <a:chOff x="0" y="0"/>
            <a:chExt cx="4739297" cy="675450"/>
          </a:xfrm>
        </p:grpSpPr>
        <p:sp>
          <p:nvSpPr>
            <p:cNvPr name="Freeform 5" id="5"/>
            <p:cNvSpPr/>
            <p:nvPr/>
          </p:nvSpPr>
          <p:spPr>
            <a:xfrm flipH="false" flipV="false" rot="0">
              <a:off x="0" y="0"/>
              <a:ext cx="4739259" cy="675386"/>
            </a:xfrm>
            <a:custGeom>
              <a:avLst/>
              <a:gdLst/>
              <a:ahLst/>
              <a:cxnLst/>
              <a:rect r="r" b="b" t="t" l="l"/>
              <a:pathLst>
                <a:path h="675386" w="4739259">
                  <a:moveTo>
                    <a:pt x="0" y="337693"/>
                  </a:moveTo>
                  <a:cubicBezTo>
                    <a:pt x="0" y="151257"/>
                    <a:pt x="151257" y="0"/>
                    <a:pt x="337693" y="0"/>
                  </a:cubicBezTo>
                  <a:lnTo>
                    <a:pt x="4401566" y="0"/>
                  </a:lnTo>
                  <a:cubicBezTo>
                    <a:pt x="4588129" y="0"/>
                    <a:pt x="4739259" y="151257"/>
                    <a:pt x="4739259" y="337693"/>
                  </a:cubicBezTo>
                  <a:cubicBezTo>
                    <a:pt x="4739259" y="524129"/>
                    <a:pt x="4588002" y="675386"/>
                    <a:pt x="4401566" y="675386"/>
                  </a:cubicBezTo>
                  <a:lnTo>
                    <a:pt x="337693" y="675386"/>
                  </a:lnTo>
                  <a:cubicBezTo>
                    <a:pt x="151257" y="675513"/>
                    <a:pt x="0" y="524256"/>
                    <a:pt x="0" y="337693"/>
                  </a:cubicBezTo>
                  <a:close/>
                </a:path>
              </a:pathLst>
            </a:custGeom>
            <a:solidFill>
              <a:srgbClr val="EBDDC5"/>
            </a:solidFill>
          </p:spPr>
        </p:sp>
      </p:grpSp>
      <p:grpSp>
        <p:nvGrpSpPr>
          <p:cNvPr name="Group 6" id="6"/>
          <p:cNvGrpSpPr/>
          <p:nvPr/>
        </p:nvGrpSpPr>
        <p:grpSpPr>
          <a:xfrm rot="0">
            <a:off x="13362022" y="9456658"/>
            <a:ext cx="3554473" cy="506587"/>
            <a:chOff x="0" y="0"/>
            <a:chExt cx="4739297" cy="675450"/>
          </a:xfrm>
        </p:grpSpPr>
        <p:sp>
          <p:nvSpPr>
            <p:cNvPr name="Freeform 7" id="7" descr="preencoded.png"/>
            <p:cNvSpPr/>
            <p:nvPr/>
          </p:nvSpPr>
          <p:spPr>
            <a:xfrm flipH="false" flipV="false" rot="0">
              <a:off x="0" y="0"/>
              <a:ext cx="4739259" cy="675513"/>
            </a:xfrm>
            <a:custGeom>
              <a:avLst/>
              <a:gdLst/>
              <a:ahLst/>
              <a:cxnLst/>
              <a:rect r="r" b="b" t="t" l="l"/>
              <a:pathLst>
                <a:path h="675513" w="4739259">
                  <a:moveTo>
                    <a:pt x="0" y="0"/>
                  </a:moveTo>
                  <a:lnTo>
                    <a:pt x="4739259" y="0"/>
                  </a:lnTo>
                  <a:lnTo>
                    <a:pt x="4739259" y="675513"/>
                  </a:lnTo>
                  <a:lnTo>
                    <a:pt x="0" y="675513"/>
                  </a:lnTo>
                  <a:lnTo>
                    <a:pt x="0" y="0"/>
                  </a:lnTo>
                  <a:close/>
                </a:path>
              </a:pathLst>
            </a:custGeom>
            <a:blipFill>
              <a:blip r:embed="rId3"/>
              <a:stretch>
                <a:fillRect l="-151" t="0" r="-152" b="9"/>
              </a:stretch>
            </a:blipFill>
          </p:spPr>
        </p:sp>
      </p:grpSp>
      <p:sp>
        <p:nvSpPr>
          <p:cNvPr name="TextBox 8" id="8"/>
          <p:cNvSpPr txBox="true"/>
          <p:nvPr/>
        </p:nvSpPr>
        <p:spPr>
          <a:xfrm rot="0">
            <a:off x="1377791" y="5607535"/>
            <a:ext cx="6991974" cy="1018394"/>
          </a:xfrm>
          <a:prstGeom prst="rect">
            <a:avLst/>
          </a:prstGeom>
        </p:spPr>
        <p:txBody>
          <a:bodyPr anchor="t" rtlCol="false" tIns="0" lIns="0" bIns="0" rIns="0">
            <a:spAutoFit/>
          </a:bodyPr>
          <a:lstStyle/>
          <a:p>
            <a:pPr algn="ctr">
              <a:lnSpc>
                <a:spcPts val="2632"/>
              </a:lnSpc>
              <a:spcBef>
                <a:spcPct val="0"/>
              </a:spcBef>
            </a:pPr>
            <a:r>
              <a:rPr lang="en-US" sz="2250">
                <a:solidFill>
                  <a:srgbClr val="201E1D"/>
                </a:solidFill>
                <a:latin typeface="Arial"/>
                <a:ea typeface="Arial"/>
                <a:cs typeface="Arial"/>
                <a:sym typeface="Arial"/>
              </a:rPr>
              <a:t>Próximo paso: soporte para motores de base de datos heterogéneos y un framework de ingesta configurable para nuevas fuentes.</a:t>
            </a:r>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5EAD8"/>
        </a:solidFill>
      </p:bgPr>
    </p:bg>
    <p:spTree>
      <p:nvGrpSpPr>
        <p:cNvPr id="1" name=""/>
        <p:cNvGrpSpPr/>
        <p:nvPr/>
      </p:nvGrpSpPr>
      <p:grpSpPr>
        <a:xfrm>
          <a:off x="0" y="0"/>
          <a:ext cx="0" cy="0"/>
          <a:chOff x="0" y="0"/>
          <a:chExt cx="0" cy="0"/>
        </a:xfrm>
      </p:grpSpPr>
      <p:sp>
        <p:nvSpPr>
          <p:cNvPr name="TextBox 2" id="2"/>
          <p:cNvSpPr txBox="true"/>
          <p:nvPr/>
        </p:nvSpPr>
        <p:spPr>
          <a:xfrm rot="0">
            <a:off x="6653289" y="3849691"/>
            <a:ext cx="4981423" cy="1235078"/>
          </a:xfrm>
          <a:prstGeom prst="rect">
            <a:avLst/>
          </a:prstGeom>
        </p:spPr>
        <p:txBody>
          <a:bodyPr anchor="t" rtlCol="false" tIns="0" lIns="0" bIns="0" rIns="0">
            <a:spAutoFit/>
          </a:bodyPr>
          <a:lstStyle/>
          <a:p>
            <a:pPr algn="ctr">
              <a:lnSpc>
                <a:spcPts val="10586"/>
              </a:lnSpc>
            </a:pPr>
            <a:r>
              <a:rPr lang="en-US" sz="9450">
                <a:solidFill>
                  <a:srgbClr val="201E1D"/>
                </a:solidFill>
                <a:latin typeface="Arial"/>
                <a:ea typeface="Arial"/>
                <a:cs typeface="Arial"/>
                <a:sym typeface="Arial"/>
              </a:rPr>
              <a:t>Gracias</a:t>
            </a:r>
          </a:p>
        </p:txBody>
      </p:sp>
      <p:sp>
        <p:nvSpPr>
          <p:cNvPr name="TextBox 3" id="3"/>
          <p:cNvSpPr txBox="true"/>
          <p:nvPr/>
        </p:nvSpPr>
        <p:spPr>
          <a:xfrm rot="0">
            <a:off x="4151062" y="5430793"/>
            <a:ext cx="9985877" cy="1082716"/>
          </a:xfrm>
          <a:prstGeom prst="rect">
            <a:avLst/>
          </a:prstGeom>
        </p:spPr>
        <p:txBody>
          <a:bodyPr anchor="t" rtlCol="false" tIns="0" lIns="0" bIns="0" rIns="0">
            <a:spAutoFit/>
          </a:bodyPr>
          <a:lstStyle/>
          <a:p>
            <a:pPr algn="ctr">
              <a:lnSpc>
                <a:spcPts val="4212"/>
              </a:lnSpc>
            </a:pPr>
            <a:r>
              <a:rPr lang="en-US" sz="3150">
                <a:solidFill>
                  <a:srgbClr val="211D1D">
                    <a:alpha val="54902"/>
                  </a:srgbClr>
                </a:solidFill>
                <a:latin typeface="Arial"/>
                <a:ea typeface="Arial"/>
                <a:cs typeface="Arial"/>
                <a:sym typeface="Arial"/>
              </a:rPr>
              <a:t>Preguntas sobre el pipeline, el modelo de datos o el tablero</a:t>
            </a:r>
          </a:p>
        </p:txBody>
      </p:sp>
      <p:sp>
        <p:nvSpPr>
          <p:cNvPr name="TextBox 4" id="4"/>
          <p:cNvSpPr txBox="true"/>
          <p:nvPr/>
        </p:nvSpPr>
        <p:spPr>
          <a:xfrm rot="0">
            <a:off x="7904169" y="9028471"/>
            <a:ext cx="2479662" cy="242602"/>
          </a:xfrm>
          <a:prstGeom prst="rect">
            <a:avLst/>
          </a:prstGeom>
        </p:spPr>
        <p:txBody>
          <a:bodyPr anchor="t" rtlCol="false" tIns="0" lIns="0" bIns="0" rIns="0">
            <a:spAutoFit/>
          </a:bodyPr>
          <a:lstStyle/>
          <a:p>
            <a:pPr algn="ctr">
              <a:lnSpc>
                <a:spcPts val="2901"/>
              </a:lnSpc>
            </a:pPr>
            <a:r>
              <a:rPr lang="en-US" sz="1800">
                <a:solidFill>
                  <a:srgbClr val="211D1D">
                    <a:alpha val="54902"/>
                  </a:srgbClr>
                </a:solidFill>
                <a:latin typeface="Arial"/>
                <a:ea typeface="Arial"/>
                <a:cs typeface="Arial"/>
                <a:sym typeface="Arial"/>
              </a:rPr>
              <a:t>meruiz22@utpl.edu.ec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DAHQMS6bwmM</dc:identifier>
  <dcterms:modified xsi:type="dcterms:W3CDTF">2011-08-01T06:04:30Z</dcterms:modified>
  <cp:revision>1</cp:revision>
  <dc:title>Practicum 2.2 Pipeline de datos final.pptx</dc:title>
</cp:coreProperties>
</file>